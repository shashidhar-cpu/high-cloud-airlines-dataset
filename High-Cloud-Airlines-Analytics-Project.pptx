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257452" y="2356453"/>
            <a:ext cx="4171950" cy="1179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41C3A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rgbClr val="2A344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41C3A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rgbClr val="2A344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41C3A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41C3A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AF5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5452" y="556990"/>
            <a:ext cx="10821094" cy="553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41C3A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4540" y="2484640"/>
            <a:ext cx="10474325" cy="2778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rgbClr val="2A344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2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71999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4650"/>
              </a:lnSpc>
            </a:pPr>
            <a:r>
              <a:rPr dirty="0" sz="3700" spc="-105"/>
              <a:t>High</a:t>
            </a:r>
            <a:r>
              <a:rPr dirty="0" sz="3700" spc="-430"/>
              <a:t> </a:t>
            </a:r>
            <a:r>
              <a:rPr dirty="0" sz="3700" spc="-90"/>
              <a:t>Cloud</a:t>
            </a:r>
            <a:r>
              <a:rPr dirty="0" sz="3700" spc="-425"/>
              <a:t> </a:t>
            </a:r>
            <a:r>
              <a:rPr dirty="0" sz="3700" spc="-105"/>
              <a:t>Airlines </a:t>
            </a:r>
            <a:r>
              <a:rPr dirty="0" sz="3700" spc="-130"/>
              <a:t>Analytics</a:t>
            </a:r>
            <a:r>
              <a:rPr dirty="0" sz="3700" spc="-375"/>
              <a:t> </a:t>
            </a:r>
            <a:r>
              <a:rPr dirty="0" sz="3700" spc="-10"/>
              <a:t>Project</a:t>
            </a:r>
            <a:endParaRPr sz="3700"/>
          </a:p>
        </p:txBody>
      </p:sp>
      <p:sp>
        <p:nvSpPr>
          <p:cNvPr id="4" name="object 4"/>
          <p:cNvSpPr txBox="1"/>
          <p:nvPr/>
        </p:nvSpPr>
        <p:spPr>
          <a:xfrm>
            <a:off x="5257452" y="3789565"/>
            <a:ext cx="5688965" cy="654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3100"/>
              </a:lnSpc>
              <a:spcBef>
                <a:spcPts val="95"/>
              </a:spcBef>
            </a:pP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Group</a:t>
            </a:r>
            <a:r>
              <a:rPr dirty="0" sz="1550" spc="-114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Presentation</a:t>
            </a:r>
            <a:r>
              <a:rPr dirty="0" sz="1550" spc="-11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190">
                <a:solidFill>
                  <a:srgbClr val="2A3440"/>
                </a:solidFill>
                <a:latin typeface="Tahoma"/>
                <a:cs typeface="Tahoma"/>
              </a:rPr>
              <a:t>|</a:t>
            </a:r>
            <a:r>
              <a:rPr dirty="0" sz="1550" spc="-114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25">
                <a:solidFill>
                  <a:srgbClr val="2A3440"/>
                </a:solidFill>
                <a:latin typeface="Tahoma"/>
                <a:cs typeface="Tahoma"/>
              </a:rPr>
              <a:t>Shashidhar,</a:t>
            </a:r>
            <a:r>
              <a:rPr dirty="0" sz="1550" spc="-114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40">
                <a:solidFill>
                  <a:srgbClr val="2A3440"/>
                </a:solidFill>
                <a:latin typeface="Tahoma"/>
                <a:cs typeface="Tahoma"/>
              </a:rPr>
              <a:t>Vyshnavi,</a:t>
            </a:r>
            <a:r>
              <a:rPr dirty="0" sz="1550" spc="-11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30">
                <a:solidFill>
                  <a:srgbClr val="2A3440"/>
                </a:solidFill>
                <a:latin typeface="Tahoma"/>
                <a:cs typeface="Tahoma"/>
              </a:rPr>
              <a:t>Narender,</a:t>
            </a:r>
            <a:r>
              <a:rPr dirty="0" sz="1550" spc="-114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Omkar</a:t>
            </a:r>
            <a:r>
              <a:rPr dirty="0" sz="1550" spc="-11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Patil, </a:t>
            </a:r>
            <a:r>
              <a:rPr dirty="0" sz="1550" spc="-35">
                <a:solidFill>
                  <a:srgbClr val="2A3440"/>
                </a:solidFill>
                <a:latin typeface="Tahoma"/>
                <a:cs typeface="Tahoma"/>
              </a:rPr>
              <a:t>Shivanjali,</a:t>
            </a:r>
            <a:r>
              <a:rPr dirty="0" sz="1550" spc="-8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65">
                <a:solidFill>
                  <a:srgbClr val="2A3440"/>
                </a:solidFill>
                <a:latin typeface="Tahoma"/>
                <a:cs typeface="Tahoma"/>
              </a:rPr>
              <a:t>Tanya</a:t>
            </a:r>
            <a:r>
              <a:rPr dirty="0" sz="1550" spc="-8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55">
                <a:solidFill>
                  <a:srgbClr val="2A3440"/>
                </a:solidFill>
                <a:latin typeface="Tahoma"/>
                <a:cs typeface="Tahoma"/>
              </a:rPr>
              <a:t>Upadhyay,</a:t>
            </a:r>
            <a:r>
              <a:rPr dirty="0" sz="1550" spc="-7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Samruddhi</a:t>
            </a:r>
            <a:r>
              <a:rPr dirty="0" sz="1550" spc="-8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Kadam</a:t>
            </a:r>
            <a:endParaRPr sz="1550">
              <a:latin typeface="Tahoma"/>
              <a:cs typeface="Tahoma"/>
            </a:endParaRPr>
          </a:p>
        </p:txBody>
      </p:sp>
      <p:pic>
        <p:nvPicPr>
          <p:cNvPr id="5" name="object 5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5452" y="1537303"/>
            <a:ext cx="2725420" cy="588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700" spc="-135"/>
              <a:t>Introduction</a:t>
            </a:r>
            <a:endParaRPr sz="37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424" y="2666999"/>
            <a:ext cx="66675" cy="666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424" y="3371849"/>
            <a:ext cx="66675" cy="666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424" y="4076699"/>
            <a:ext cx="66675" cy="666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424" y="4791074"/>
            <a:ext cx="66675" cy="6667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850265">
              <a:lnSpc>
                <a:spcPct val="133100"/>
              </a:lnSpc>
              <a:spcBef>
                <a:spcPts val="95"/>
              </a:spcBef>
            </a:pPr>
            <a:r>
              <a:rPr dirty="0"/>
              <a:t>Highcloud</a:t>
            </a:r>
            <a:r>
              <a:rPr dirty="0" spc="-110"/>
              <a:t> </a:t>
            </a:r>
            <a:r>
              <a:rPr dirty="0" spc="-20"/>
              <a:t>Airlines,a</a:t>
            </a:r>
            <a:r>
              <a:rPr dirty="0" spc="-105"/>
              <a:t> </a:t>
            </a:r>
            <a:r>
              <a:rPr dirty="0"/>
              <a:t>leading</a:t>
            </a:r>
            <a:r>
              <a:rPr dirty="0" spc="-110"/>
              <a:t> </a:t>
            </a:r>
            <a:r>
              <a:rPr dirty="0" spc="-15"/>
              <a:t>player</a:t>
            </a:r>
            <a:r>
              <a:rPr dirty="0" spc="-105"/>
              <a:t> </a:t>
            </a:r>
            <a:r>
              <a:rPr dirty="0"/>
              <a:t>in</a:t>
            </a:r>
            <a:r>
              <a:rPr dirty="0" spc="-110"/>
              <a:t> </a:t>
            </a:r>
            <a:r>
              <a:rPr dirty="0"/>
              <a:t>the</a:t>
            </a:r>
            <a:r>
              <a:rPr dirty="0" spc="-105"/>
              <a:t> </a:t>
            </a:r>
            <a:r>
              <a:rPr dirty="0" spc="-20"/>
              <a:t>aviation</a:t>
            </a:r>
            <a:r>
              <a:rPr dirty="0" spc="-110"/>
              <a:t> </a:t>
            </a:r>
            <a:r>
              <a:rPr dirty="0"/>
              <a:t>sector</a:t>
            </a:r>
            <a:r>
              <a:rPr dirty="0" spc="-105"/>
              <a:t> </a:t>
            </a:r>
            <a:r>
              <a:rPr dirty="0"/>
              <a:t>has</a:t>
            </a:r>
            <a:r>
              <a:rPr dirty="0" spc="-110"/>
              <a:t> </a:t>
            </a:r>
            <a:r>
              <a:rPr dirty="0"/>
              <a:t>been</a:t>
            </a:r>
            <a:r>
              <a:rPr dirty="0" spc="-105"/>
              <a:t> </a:t>
            </a:r>
            <a:r>
              <a:rPr dirty="0" spc="-10"/>
              <a:t>at</a:t>
            </a:r>
            <a:r>
              <a:rPr dirty="0" spc="-110"/>
              <a:t> </a:t>
            </a:r>
            <a:r>
              <a:rPr dirty="0"/>
              <a:t>the</a:t>
            </a:r>
            <a:r>
              <a:rPr dirty="0" spc="-105"/>
              <a:t> </a:t>
            </a:r>
            <a:r>
              <a:rPr dirty="0" spc="-10"/>
              <a:t>forefront</a:t>
            </a:r>
            <a:r>
              <a:rPr dirty="0" spc="-105"/>
              <a:t> </a:t>
            </a:r>
            <a:r>
              <a:rPr dirty="0"/>
              <a:t>of</a:t>
            </a:r>
            <a:r>
              <a:rPr dirty="0" spc="-110"/>
              <a:t> </a:t>
            </a:r>
            <a:r>
              <a:rPr dirty="0" spc="-10"/>
              <a:t>providing</a:t>
            </a:r>
            <a:r>
              <a:rPr dirty="0" spc="-105"/>
              <a:t> </a:t>
            </a:r>
            <a:r>
              <a:rPr dirty="0"/>
              <a:t>seamless</a:t>
            </a:r>
            <a:r>
              <a:rPr dirty="0" spc="-110"/>
              <a:t> </a:t>
            </a:r>
            <a:r>
              <a:rPr dirty="0"/>
              <a:t>air</a:t>
            </a:r>
            <a:r>
              <a:rPr dirty="0" spc="-105"/>
              <a:t> </a:t>
            </a:r>
            <a:r>
              <a:rPr dirty="0" spc="-10"/>
              <a:t>travel experiences</a:t>
            </a:r>
          </a:p>
          <a:p>
            <a:pPr marL="12700" marR="1293495">
              <a:lnSpc>
                <a:spcPct val="137100"/>
              </a:lnSpc>
              <a:spcBef>
                <a:spcPts val="525"/>
              </a:spcBef>
            </a:pPr>
            <a:r>
              <a:rPr dirty="0"/>
              <a:t>Established</a:t>
            </a:r>
            <a:r>
              <a:rPr dirty="0" spc="-95"/>
              <a:t> </a:t>
            </a:r>
            <a:r>
              <a:rPr dirty="0"/>
              <a:t>with</a:t>
            </a:r>
            <a:r>
              <a:rPr dirty="0" spc="-95"/>
              <a:t> </a:t>
            </a:r>
            <a:r>
              <a:rPr dirty="0"/>
              <a:t>a</a:t>
            </a:r>
            <a:r>
              <a:rPr dirty="0" spc="-90"/>
              <a:t> </a:t>
            </a:r>
            <a:r>
              <a:rPr dirty="0"/>
              <a:t>commitment</a:t>
            </a:r>
            <a:r>
              <a:rPr dirty="0" spc="-95"/>
              <a:t> </a:t>
            </a:r>
            <a:r>
              <a:rPr dirty="0"/>
              <a:t>to</a:t>
            </a:r>
            <a:r>
              <a:rPr dirty="0" spc="-90"/>
              <a:t> </a:t>
            </a:r>
            <a:r>
              <a:rPr dirty="0" spc="-10"/>
              <a:t>excellence,High</a:t>
            </a:r>
            <a:r>
              <a:rPr dirty="0" spc="-95"/>
              <a:t> </a:t>
            </a:r>
            <a:r>
              <a:rPr dirty="0"/>
              <a:t>cloud</a:t>
            </a:r>
            <a:r>
              <a:rPr dirty="0" spc="-90"/>
              <a:t> </a:t>
            </a:r>
            <a:r>
              <a:rPr dirty="0"/>
              <a:t>has</a:t>
            </a:r>
            <a:r>
              <a:rPr dirty="0" spc="-95"/>
              <a:t> </a:t>
            </a:r>
            <a:r>
              <a:rPr dirty="0"/>
              <a:t>consistently</a:t>
            </a:r>
            <a:r>
              <a:rPr dirty="0" spc="-90"/>
              <a:t> </a:t>
            </a:r>
            <a:r>
              <a:rPr dirty="0"/>
              <a:t>set</a:t>
            </a:r>
            <a:r>
              <a:rPr dirty="0" spc="-95"/>
              <a:t> </a:t>
            </a:r>
            <a:r>
              <a:rPr dirty="0"/>
              <a:t>industry</a:t>
            </a:r>
            <a:r>
              <a:rPr dirty="0" spc="-90"/>
              <a:t> </a:t>
            </a:r>
            <a:r>
              <a:rPr dirty="0" spc="-10"/>
              <a:t>standards</a:t>
            </a:r>
            <a:r>
              <a:rPr dirty="0" spc="-95"/>
              <a:t> </a:t>
            </a:r>
            <a:r>
              <a:rPr dirty="0"/>
              <a:t>in</a:t>
            </a:r>
            <a:r>
              <a:rPr dirty="0" spc="-95"/>
              <a:t> </a:t>
            </a:r>
            <a:r>
              <a:rPr dirty="0"/>
              <a:t>terms</a:t>
            </a:r>
            <a:r>
              <a:rPr dirty="0" spc="-90"/>
              <a:t> </a:t>
            </a:r>
            <a:r>
              <a:rPr dirty="0" spc="-25"/>
              <a:t>of </a:t>
            </a:r>
            <a:r>
              <a:rPr dirty="0" spc="-45"/>
              <a:t>reliability,safety,</a:t>
            </a:r>
            <a:r>
              <a:rPr dirty="0" spc="-70"/>
              <a:t> </a:t>
            </a:r>
            <a:r>
              <a:rPr dirty="0"/>
              <a:t>and</a:t>
            </a:r>
            <a:r>
              <a:rPr dirty="0" spc="-65"/>
              <a:t> </a:t>
            </a:r>
            <a:r>
              <a:rPr dirty="0"/>
              <a:t>customer</a:t>
            </a:r>
            <a:r>
              <a:rPr dirty="0" spc="-65"/>
              <a:t> </a:t>
            </a:r>
            <a:r>
              <a:rPr dirty="0" spc="-10"/>
              <a:t>satisfaction.</a:t>
            </a:r>
          </a:p>
          <a:p>
            <a:pPr marL="12700" marR="5080">
              <a:lnSpc>
                <a:spcPct val="137100"/>
              </a:lnSpc>
              <a:spcBef>
                <a:spcPts val="450"/>
              </a:spcBef>
            </a:pPr>
            <a:r>
              <a:rPr dirty="0" spc="-10"/>
              <a:t>Extensive</a:t>
            </a:r>
            <a:r>
              <a:rPr dirty="0" spc="-105"/>
              <a:t> </a:t>
            </a:r>
            <a:r>
              <a:rPr dirty="0"/>
              <a:t>network</a:t>
            </a:r>
            <a:r>
              <a:rPr dirty="0" spc="-100"/>
              <a:t> </a:t>
            </a:r>
            <a:r>
              <a:rPr dirty="0"/>
              <a:t>of</a:t>
            </a:r>
            <a:r>
              <a:rPr dirty="0" spc="-100"/>
              <a:t> </a:t>
            </a:r>
            <a:r>
              <a:rPr dirty="0"/>
              <a:t>routes</a:t>
            </a:r>
            <a:r>
              <a:rPr dirty="0" spc="-100"/>
              <a:t> </a:t>
            </a:r>
            <a:r>
              <a:rPr dirty="0"/>
              <a:t>spans</a:t>
            </a:r>
            <a:r>
              <a:rPr dirty="0" spc="-100"/>
              <a:t> </a:t>
            </a:r>
            <a:r>
              <a:rPr dirty="0"/>
              <a:t>across</a:t>
            </a:r>
            <a:r>
              <a:rPr dirty="0" spc="-100"/>
              <a:t> </a:t>
            </a:r>
            <a:r>
              <a:rPr dirty="0"/>
              <a:t>regions,connecting</a:t>
            </a:r>
            <a:r>
              <a:rPr dirty="0" spc="-100"/>
              <a:t> </a:t>
            </a:r>
            <a:r>
              <a:rPr dirty="0"/>
              <a:t>people</a:t>
            </a:r>
            <a:r>
              <a:rPr dirty="0" spc="-100"/>
              <a:t> </a:t>
            </a:r>
            <a:r>
              <a:rPr dirty="0"/>
              <a:t>and</a:t>
            </a:r>
            <a:r>
              <a:rPr dirty="0" spc="-100"/>
              <a:t> </a:t>
            </a:r>
            <a:r>
              <a:rPr dirty="0" spc="-10"/>
              <a:t>cultures,making</a:t>
            </a:r>
            <a:r>
              <a:rPr dirty="0" spc="-100"/>
              <a:t> </a:t>
            </a:r>
            <a:r>
              <a:rPr dirty="0"/>
              <a:t>Highcloud</a:t>
            </a:r>
            <a:r>
              <a:rPr dirty="0" spc="-100"/>
              <a:t> </a:t>
            </a:r>
            <a:r>
              <a:rPr dirty="0"/>
              <a:t>a</a:t>
            </a:r>
            <a:r>
              <a:rPr dirty="0" spc="-105"/>
              <a:t> </a:t>
            </a:r>
            <a:r>
              <a:rPr dirty="0" spc="-10"/>
              <a:t>preferred</a:t>
            </a:r>
            <a:r>
              <a:rPr dirty="0" spc="-100"/>
              <a:t> </a:t>
            </a:r>
            <a:r>
              <a:rPr dirty="0"/>
              <a:t>choice</a:t>
            </a:r>
            <a:r>
              <a:rPr dirty="0" spc="-100"/>
              <a:t> </a:t>
            </a:r>
            <a:r>
              <a:rPr dirty="0" spc="-25"/>
              <a:t>for </a:t>
            </a:r>
            <a:r>
              <a:rPr dirty="0"/>
              <a:t>millions</a:t>
            </a:r>
            <a:r>
              <a:rPr dirty="0" spc="-95"/>
              <a:t> </a:t>
            </a:r>
            <a:r>
              <a:rPr dirty="0"/>
              <a:t>of</a:t>
            </a:r>
            <a:r>
              <a:rPr dirty="0" spc="-95"/>
              <a:t> </a:t>
            </a:r>
            <a:r>
              <a:rPr dirty="0" spc="-20"/>
              <a:t>travellers</a:t>
            </a:r>
            <a:r>
              <a:rPr dirty="0" spc="-90"/>
              <a:t> </a:t>
            </a:r>
            <a:r>
              <a:rPr dirty="0" spc="-10"/>
              <a:t>globally.</a:t>
            </a:r>
          </a:p>
          <a:p>
            <a:pPr marL="12700" marR="95885">
              <a:lnSpc>
                <a:spcPct val="133100"/>
              </a:lnSpc>
              <a:spcBef>
                <a:spcPts val="600"/>
              </a:spcBef>
            </a:pPr>
            <a:r>
              <a:rPr dirty="0"/>
              <a:t>HighCloud</a:t>
            </a:r>
            <a:r>
              <a:rPr dirty="0" spc="-100"/>
              <a:t> </a:t>
            </a:r>
            <a:r>
              <a:rPr dirty="0"/>
              <a:t>embraces</a:t>
            </a:r>
            <a:r>
              <a:rPr dirty="0" spc="-95"/>
              <a:t> </a:t>
            </a:r>
            <a:r>
              <a:rPr dirty="0" spc="-10"/>
              <a:t>innovation</a:t>
            </a:r>
            <a:r>
              <a:rPr dirty="0" spc="-100"/>
              <a:t> </a:t>
            </a:r>
            <a:r>
              <a:rPr dirty="0"/>
              <a:t>and</a:t>
            </a:r>
            <a:r>
              <a:rPr dirty="0" spc="-95"/>
              <a:t> </a:t>
            </a:r>
            <a:r>
              <a:rPr dirty="0"/>
              <a:t>modern</a:t>
            </a:r>
            <a:r>
              <a:rPr dirty="0" spc="-95"/>
              <a:t> </a:t>
            </a:r>
            <a:r>
              <a:rPr dirty="0"/>
              <a:t>technology</a:t>
            </a:r>
            <a:r>
              <a:rPr dirty="0" spc="-100"/>
              <a:t> </a:t>
            </a:r>
            <a:r>
              <a:rPr dirty="0"/>
              <a:t>to</a:t>
            </a:r>
            <a:r>
              <a:rPr dirty="0" spc="-95"/>
              <a:t> </a:t>
            </a:r>
            <a:r>
              <a:rPr dirty="0"/>
              <a:t>enhance</a:t>
            </a:r>
            <a:r>
              <a:rPr dirty="0" spc="-100"/>
              <a:t> </a:t>
            </a:r>
            <a:r>
              <a:rPr dirty="0" spc="-10"/>
              <a:t>operational</a:t>
            </a:r>
            <a:r>
              <a:rPr dirty="0" spc="-95"/>
              <a:t> </a:t>
            </a:r>
            <a:r>
              <a:rPr dirty="0"/>
              <a:t>efficiency</a:t>
            </a:r>
            <a:r>
              <a:rPr dirty="0" spc="-95"/>
              <a:t> </a:t>
            </a:r>
            <a:r>
              <a:rPr dirty="0"/>
              <a:t>and</a:t>
            </a:r>
            <a:r>
              <a:rPr dirty="0" spc="-100"/>
              <a:t> </a:t>
            </a:r>
            <a:r>
              <a:rPr dirty="0" spc="-25"/>
              <a:t>stay</a:t>
            </a:r>
            <a:r>
              <a:rPr dirty="0" spc="-95"/>
              <a:t> </a:t>
            </a:r>
            <a:r>
              <a:rPr dirty="0" spc="-10"/>
              <a:t>at</a:t>
            </a:r>
            <a:r>
              <a:rPr dirty="0" spc="-95"/>
              <a:t> </a:t>
            </a:r>
            <a:r>
              <a:rPr dirty="0"/>
              <a:t>the</a:t>
            </a:r>
            <a:r>
              <a:rPr dirty="0" spc="-100"/>
              <a:t> </a:t>
            </a:r>
            <a:r>
              <a:rPr dirty="0" spc="-10"/>
              <a:t>forefront</a:t>
            </a:r>
            <a:r>
              <a:rPr dirty="0" spc="-95"/>
              <a:t> </a:t>
            </a:r>
            <a:r>
              <a:rPr dirty="0"/>
              <a:t>of</a:t>
            </a:r>
            <a:r>
              <a:rPr dirty="0" spc="-100"/>
              <a:t> </a:t>
            </a:r>
            <a:r>
              <a:rPr dirty="0" spc="-25"/>
              <a:t>the </a:t>
            </a:r>
            <a:r>
              <a:rPr dirty="0" spc="-20"/>
              <a:t>aviation</a:t>
            </a:r>
            <a:r>
              <a:rPr dirty="0" spc="-105"/>
              <a:t> </a:t>
            </a:r>
            <a:r>
              <a:rPr dirty="0" spc="-10"/>
              <a:t>lanscape.</a:t>
            </a:r>
          </a:p>
        </p:txBody>
      </p:sp>
      <p:pic>
        <p:nvPicPr>
          <p:cNvPr id="8" name="object 8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85452" y="2175478"/>
            <a:ext cx="3721735" cy="588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700" spc="-135"/>
              <a:t>Project</a:t>
            </a:r>
            <a:r>
              <a:rPr dirty="0" sz="3700" spc="-390"/>
              <a:t> </a:t>
            </a:r>
            <a:r>
              <a:rPr dirty="0" sz="3700" spc="-135"/>
              <a:t>Overview</a:t>
            </a:r>
            <a:endParaRPr sz="3700"/>
          </a:p>
        </p:txBody>
      </p:sp>
      <p:sp>
        <p:nvSpPr>
          <p:cNvPr id="6" name="object 6"/>
          <p:cNvSpPr txBox="1"/>
          <p:nvPr/>
        </p:nvSpPr>
        <p:spPr>
          <a:xfrm>
            <a:off x="685452" y="3018040"/>
            <a:ext cx="6233160" cy="161607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35100"/>
              </a:lnSpc>
              <a:spcBef>
                <a:spcPts val="55"/>
              </a:spcBef>
            </a:pP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This</a:t>
            </a:r>
            <a:r>
              <a:rPr dirty="0" sz="1550" spc="-12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project</a:t>
            </a:r>
            <a:r>
              <a:rPr dirty="0" sz="1550" spc="-12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applies</a:t>
            </a:r>
            <a:r>
              <a:rPr dirty="0" sz="1550" spc="-12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advanced</a:t>
            </a:r>
            <a:r>
              <a:rPr dirty="0" sz="1550" spc="-12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2A3440"/>
                </a:solidFill>
                <a:latin typeface="Tahoma"/>
                <a:cs typeface="Tahoma"/>
              </a:rPr>
              <a:t>data</a:t>
            </a:r>
            <a:r>
              <a:rPr dirty="0" sz="1550" spc="-12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analytics</a:t>
            </a:r>
            <a:r>
              <a:rPr dirty="0" sz="1550" spc="-12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to</a:t>
            </a:r>
            <a:r>
              <a:rPr dirty="0" sz="1550" spc="-12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six</a:t>
            </a:r>
            <a:r>
              <a:rPr dirty="0" sz="1550" spc="-12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2A3440"/>
                </a:solidFill>
                <a:latin typeface="Tahoma"/>
                <a:cs typeface="Tahoma"/>
              </a:rPr>
              <a:t>years</a:t>
            </a:r>
            <a:r>
              <a:rPr dirty="0" sz="1550" spc="-12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of</a:t>
            </a:r>
            <a:r>
              <a:rPr dirty="0" sz="1550" spc="-12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High</a:t>
            </a:r>
            <a:r>
              <a:rPr dirty="0" sz="1550" spc="-12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Cloud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Airlines</a:t>
            </a:r>
            <a:r>
              <a:rPr dirty="0" sz="1550" spc="-10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operational</a:t>
            </a:r>
            <a:r>
              <a:rPr dirty="0" sz="1550" spc="-10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50">
                <a:solidFill>
                  <a:srgbClr val="2A3440"/>
                </a:solidFill>
                <a:latin typeface="Tahoma"/>
                <a:cs typeface="Tahoma"/>
              </a:rPr>
              <a:t>data,</a:t>
            </a:r>
            <a:r>
              <a:rPr dirty="0" sz="1550" spc="-10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uncovering</a:t>
            </a:r>
            <a:r>
              <a:rPr dirty="0" sz="1550" spc="-10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performance</a:t>
            </a:r>
            <a:r>
              <a:rPr dirty="0" sz="1550" spc="-9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patterns</a:t>
            </a:r>
            <a:r>
              <a:rPr dirty="0" sz="1550" spc="-10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and</a:t>
            </a:r>
            <a:r>
              <a:rPr dirty="0" sz="1550" spc="-10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strategic opportunities.</a:t>
            </a:r>
            <a:r>
              <a:rPr dirty="0" sz="1550" spc="-13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Through</a:t>
            </a:r>
            <a:r>
              <a:rPr dirty="0" sz="1550" spc="-13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SQL,</a:t>
            </a:r>
            <a:r>
              <a:rPr dirty="0" sz="1550" spc="-13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Power</a:t>
            </a:r>
            <a:r>
              <a:rPr dirty="0" sz="1550" spc="-12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90">
                <a:solidFill>
                  <a:srgbClr val="2A3440"/>
                </a:solidFill>
                <a:latin typeface="Tahoma"/>
                <a:cs typeface="Tahoma"/>
              </a:rPr>
              <a:t>BI,</a:t>
            </a:r>
            <a:r>
              <a:rPr dirty="0" sz="1550" spc="-13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and</a:t>
            </a:r>
            <a:r>
              <a:rPr dirty="0" sz="1550" spc="-13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50">
                <a:solidFill>
                  <a:srgbClr val="2A3440"/>
                </a:solidFill>
                <a:latin typeface="Tahoma"/>
                <a:cs typeface="Tahoma"/>
              </a:rPr>
              <a:t>Tableau,</a:t>
            </a:r>
            <a:r>
              <a:rPr dirty="0" sz="1550" spc="-13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we</a:t>
            </a:r>
            <a:r>
              <a:rPr dirty="0" sz="1550" spc="-12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transform</a:t>
            </a:r>
            <a:r>
              <a:rPr dirty="0" sz="1550" spc="-13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50">
                <a:solidFill>
                  <a:srgbClr val="2A3440"/>
                </a:solidFill>
                <a:latin typeface="Tahoma"/>
                <a:cs typeface="Tahoma"/>
              </a:rPr>
              <a:t>3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million</a:t>
            </a:r>
            <a:r>
              <a:rPr dirty="0" sz="1550" spc="-10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flight</a:t>
            </a:r>
            <a:r>
              <a:rPr dirty="0" sz="1550" spc="-10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records</a:t>
            </a:r>
            <a:r>
              <a:rPr dirty="0" sz="1550" spc="-10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into</a:t>
            </a:r>
            <a:r>
              <a:rPr dirty="0" sz="1550" spc="-10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actionable</a:t>
            </a:r>
            <a:r>
              <a:rPr dirty="0" sz="1550" spc="-10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intelligence</a:t>
            </a:r>
            <a:r>
              <a:rPr dirty="0" sz="1550" spc="-10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for</a:t>
            </a:r>
            <a:r>
              <a:rPr dirty="0" sz="1550" spc="-10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revenue</a:t>
            </a:r>
            <a:r>
              <a:rPr dirty="0" sz="1550" spc="50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optimization</a:t>
            </a:r>
            <a:r>
              <a:rPr dirty="0" sz="1550" spc="-13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and</a:t>
            </a:r>
            <a:r>
              <a:rPr dirty="0" sz="1550" spc="-12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capacity</a:t>
            </a:r>
            <a:r>
              <a:rPr dirty="0" sz="1550" spc="-13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planning.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7620000" y="0"/>
            <a:ext cx="4572000" cy="6858000"/>
            <a:chOff x="7620000" y="0"/>
            <a:chExt cx="457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00" y="0"/>
              <a:ext cx="4571999" cy="6857999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42245" y="6343650"/>
              <a:ext cx="1754504" cy="4191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5452" y="1518253"/>
            <a:ext cx="3713479" cy="588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700" spc="-135"/>
              <a:t>Project</a:t>
            </a:r>
            <a:r>
              <a:rPr dirty="0" sz="3700" spc="-390"/>
              <a:t> </a:t>
            </a:r>
            <a:r>
              <a:rPr dirty="0" sz="3700" spc="-150"/>
              <a:t>Objective</a:t>
            </a:r>
            <a:endParaRPr sz="3700"/>
          </a:p>
        </p:txBody>
      </p:sp>
      <p:grpSp>
        <p:nvGrpSpPr>
          <p:cNvPr id="4" name="object 4"/>
          <p:cNvGrpSpPr/>
          <p:nvPr/>
        </p:nvGrpSpPr>
        <p:grpSpPr>
          <a:xfrm>
            <a:off x="2400299" y="2647949"/>
            <a:ext cx="447675" cy="447675"/>
            <a:chOff x="2400299" y="2647949"/>
            <a:chExt cx="447675" cy="447675"/>
          </a:xfrm>
        </p:grpSpPr>
        <p:sp>
          <p:nvSpPr>
            <p:cNvPr id="5" name="object 5"/>
            <p:cNvSpPr/>
            <p:nvPr/>
          </p:nvSpPr>
          <p:spPr>
            <a:xfrm>
              <a:off x="2405062" y="2652712"/>
              <a:ext cx="438150" cy="438150"/>
            </a:xfrm>
            <a:custGeom>
              <a:avLst/>
              <a:gdLst/>
              <a:ahLst/>
              <a:cxnLst/>
              <a:rect l="l" t="t" r="r" b="b"/>
              <a:pathLst>
                <a:path w="438150" h="438150">
                  <a:moveTo>
                    <a:pt x="377364" y="438149"/>
                  </a:moveTo>
                  <a:lnTo>
                    <a:pt x="60785" y="438149"/>
                  </a:lnTo>
                  <a:lnTo>
                    <a:pt x="56554" y="437733"/>
                  </a:lnTo>
                  <a:lnTo>
                    <a:pt x="16034" y="416074"/>
                  </a:lnTo>
                  <a:lnTo>
                    <a:pt x="0" y="377364"/>
                  </a:lnTo>
                  <a:lnTo>
                    <a:pt x="0" y="373092"/>
                  </a:lnTo>
                  <a:lnTo>
                    <a:pt x="0" y="60785"/>
                  </a:lnTo>
                  <a:lnTo>
                    <a:pt x="16034" y="22075"/>
                  </a:lnTo>
                  <a:lnTo>
                    <a:pt x="56554" y="416"/>
                  </a:lnTo>
                  <a:lnTo>
                    <a:pt x="60785" y="0"/>
                  </a:lnTo>
                  <a:lnTo>
                    <a:pt x="377364" y="0"/>
                  </a:lnTo>
                  <a:lnTo>
                    <a:pt x="416074" y="16033"/>
                  </a:lnTo>
                  <a:lnTo>
                    <a:pt x="437733" y="56554"/>
                  </a:lnTo>
                  <a:lnTo>
                    <a:pt x="438150" y="60785"/>
                  </a:lnTo>
                  <a:lnTo>
                    <a:pt x="438150" y="377364"/>
                  </a:lnTo>
                  <a:lnTo>
                    <a:pt x="422115" y="416074"/>
                  </a:lnTo>
                  <a:lnTo>
                    <a:pt x="381595" y="437733"/>
                  </a:lnTo>
                  <a:lnTo>
                    <a:pt x="377364" y="438149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05062" y="2652712"/>
              <a:ext cx="438150" cy="438150"/>
            </a:xfrm>
            <a:custGeom>
              <a:avLst/>
              <a:gdLst/>
              <a:ahLst/>
              <a:cxnLst/>
              <a:rect l="l" t="t" r="r" b="b"/>
              <a:pathLst>
                <a:path w="438150" h="438150">
                  <a:moveTo>
                    <a:pt x="0" y="373092"/>
                  </a:moveTo>
                  <a:lnTo>
                    <a:pt x="0" y="65057"/>
                  </a:lnTo>
                  <a:lnTo>
                    <a:pt x="0" y="60785"/>
                  </a:lnTo>
                  <a:lnTo>
                    <a:pt x="416" y="56554"/>
                  </a:lnTo>
                  <a:lnTo>
                    <a:pt x="19054" y="19054"/>
                  </a:lnTo>
                  <a:lnTo>
                    <a:pt x="22075" y="16033"/>
                  </a:lnTo>
                  <a:lnTo>
                    <a:pt x="40160" y="4951"/>
                  </a:lnTo>
                  <a:lnTo>
                    <a:pt x="44107" y="3317"/>
                  </a:lnTo>
                  <a:lnTo>
                    <a:pt x="48175" y="2083"/>
                  </a:lnTo>
                  <a:lnTo>
                    <a:pt x="52365" y="1249"/>
                  </a:lnTo>
                  <a:lnTo>
                    <a:pt x="56554" y="416"/>
                  </a:lnTo>
                  <a:lnTo>
                    <a:pt x="60785" y="0"/>
                  </a:lnTo>
                  <a:lnTo>
                    <a:pt x="65057" y="0"/>
                  </a:lnTo>
                  <a:lnTo>
                    <a:pt x="373093" y="0"/>
                  </a:lnTo>
                  <a:lnTo>
                    <a:pt x="377364" y="0"/>
                  </a:lnTo>
                  <a:lnTo>
                    <a:pt x="381595" y="416"/>
                  </a:lnTo>
                  <a:lnTo>
                    <a:pt x="385784" y="1249"/>
                  </a:lnTo>
                  <a:lnTo>
                    <a:pt x="389974" y="2083"/>
                  </a:lnTo>
                  <a:lnTo>
                    <a:pt x="394042" y="3317"/>
                  </a:lnTo>
                  <a:lnTo>
                    <a:pt x="397988" y="4951"/>
                  </a:lnTo>
                  <a:lnTo>
                    <a:pt x="401935" y="6586"/>
                  </a:lnTo>
                  <a:lnTo>
                    <a:pt x="419095" y="19054"/>
                  </a:lnTo>
                  <a:lnTo>
                    <a:pt x="422115" y="22075"/>
                  </a:lnTo>
                  <a:lnTo>
                    <a:pt x="424812" y="25361"/>
                  </a:lnTo>
                  <a:lnTo>
                    <a:pt x="427185" y="28913"/>
                  </a:lnTo>
                  <a:lnTo>
                    <a:pt x="429558" y="32464"/>
                  </a:lnTo>
                  <a:lnTo>
                    <a:pt x="436899" y="52364"/>
                  </a:lnTo>
                  <a:lnTo>
                    <a:pt x="437733" y="56554"/>
                  </a:lnTo>
                  <a:lnTo>
                    <a:pt x="438150" y="60785"/>
                  </a:lnTo>
                  <a:lnTo>
                    <a:pt x="438150" y="65057"/>
                  </a:lnTo>
                  <a:lnTo>
                    <a:pt x="438150" y="373092"/>
                  </a:lnTo>
                  <a:lnTo>
                    <a:pt x="438150" y="377364"/>
                  </a:lnTo>
                  <a:lnTo>
                    <a:pt x="437733" y="381594"/>
                  </a:lnTo>
                  <a:lnTo>
                    <a:pt x="436899" y="385784"/>
                  </a:lnTo>
                  <a:lnTo>
                    <a:pt x="436066" y="389974"/>
                  </a:lnTo>
                  <a:lnTo>
                    <a:pt x="427185" y="409236"/>
                  </a:lnTo>
                  <a:lnTo>
                    <a:pt x="424812" y="412788"/>
                  </a:lnTo>
                  <a:lnTo>
                    <a:pt x="397988" y="433197"/>
                  </a:lnTo>
                  <a:lnTo>
                    <a:pt x="394042" y="434832"/>
                  </a:lnTo>
                  <a:lnTo>
                    <a:pt x="389974" y="436066"/>
                  </a:lnTo>
                  <a:lnTo>
                    <a:pt x="385785" y="436899"/>
                  </a:lnTo>
                  <a:lnTo>
                    <a:pt x="381595" y="437733"/>
                  </a:lnTo>
                  <a:lnTo>
                    <a:pt x="377364" y="438149"/>
                  </a:lnTo>
                  <a:lnTo>
                    <a:pt x="373093" y="438149"/>
                  </a:lnTo>
                  <a:lnTo>
                    <a:pt x="65057" y="438149"/>
                  </a:lnTo>
                  <a:lnTo>
                    <a:pt x="60785" y="438149"/>
                  </a:lnTo>
                  <a:lnTo>
                    <a:pt x="56554" y="437733"/>
                  </a:lnTo>
                  <a:lnTo>
                    <a:pt x="52365" y="436899"/>
                  </a:lnTo>
                  <a:lnTo>
                    <a:pt x="48175" y="436066"/>
                  </a:lnTo>
                  <a:lnTo>
                    <a:pt x="44107" y="434832"/>
                  </a:lnTo>
                  <a:lnTo>
                    <a:pt x="40160" y="433197"/>
                  </a:lnTo>
                  <a:lnTo>
                    <a:pt x="36214" y="431562"/>
                  </a:lnTo>
                  <a:lnTo>
                    <a:pt x="6586" y="401935"/>
                  </a:lnTo>
                  <a:lnTo>
                    <a:pt x="0" y="377364"/>
                  </a:lnTo>
                  <a:lnTo>
                    <a:pt x="0" y="373092"/>
                  </a:lnTo>
                  <a:close/>
                </a:path>
              </a:pathLst>
            </a:custGeom>
            <a:ln w="9524">
              <a:solidFill>
                <a:srgbClr val="D5CC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2532558" y="2682526"/>
            <a:ext cx="187325" cy="3638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00" spc="-75">
                <a:solidFill>
                  <a:srgbClr val="2A3440"/>
                </a:solidFill>
                <a:latin typeface="Verdana"/>
                <a:cs typeface="Verdana"/>
              </a:rPr>
              <a:t>1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25" y="3533775"/>
            <a:ext cx="1209674" cy="6762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035448" y="2695924"/>
            <a:ext cx="2077085" cy="236728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645795">
              <a:lnSpc>
                <a:spcPts val="2330"/>
              </a:lnSpc>
              <a:spcBef>
                <a:spcPts val="80"/>
              </a:spcBef>
            </a:pPr>
            <a:r>
              <a:rPr dirty="0" sz="1850" spc="-10">
                <a:solidFill>
                  <a:srgbClr val="2A3440"/>
                </a:solidFill>
                <a:latin typeface="Verdana"/>
                <a:cs typeface="Verdana"/>
              </a:rPr>
              <a:t>Analyze </a:t>
            </a:r>
            <a:r>
              <a:rPr dirty="0" sz="1850" spc="-65">
                <a:solidFill>
                  <a:srgbClr val="2A3440"/>
                </a:solidFill>
                <a:latin typeface="Verdana"/>
                <a:cs typeface="Verdana"/>
              </a:rPr>
              <a:t>Performance</a:t>
            </a:r>
            <a:endParaRPr sz="1850">
              <a:latin typeface="Verdana"/>
              <a:cs typeface="Verdana"/>
            </a:endParaRPr>
          </a:p>
          <a:p>
            <a:pPr marL="12700" marR="5080">
              <a:lnSpc>
                <a:spcPct val="135100"/>
              </a:lnSpc>
              <a:spcBef>
                <a:spcPts val="1230"/>
              </a:spcBef>
            </a:pP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Examine</a:t>
            </a:r>
            <a:r>
              <a:rPr dirty="0" sz="1550" spc="-10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High</a:t>
            </a:r>
            <a:r>
              <a:rPr dirty="0" sz="1550" spc="-10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2A3440"/>
                </a:solidFill>
                <a:latin typeface="Tahoma"/>
                <a:cs typeface="Tahoma"/>
              </a:rPr>
              <a:t>Cloud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Airlines'</a:t>
            </a:r>
            <a:r>
              <a:rPr dirty="0" sz="1550" spc="-12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operational</a:t>
            </a:r>
            <a:r>
              <a:rPr dirty="0" sz="1550" spc="-12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25">
                <a:solidFill>
                  <a:srgbClr val="2A3440"/>
                </a:solidFill>
                <a:latin typeface="Tahoma"/>
                <a:cs typeface="Tahoma"/>
              </a:rPr>
              <a:t>and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financial</a:t>
            </a:r>
            <a:r>
              <a:rPr dirty="0" sz="1550" spc="-13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performance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across</a:t>
            </a:r>
            <a:r>
              <a:rPr dirty="0" sz="1550" spc="-8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25">
                <a:solidFill>
                  <a:srgbClr val="2A3440"/>
                </a:solidFill>
                <a:latin typeface="Tahoma"/>
                <a:cs typeface="Tahoma"/>
              </a:rPr>
              <a:t>key</a:t>
            </a:r>
            <a:r>
              <a:rPr dirty="0" sz="1550" spc="-8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metrics</a:t>
            </a:r>
            <a:r>
              <a:rPr dirty="0" sz="1550" spc="-8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25">
                <a:solidFill>
                  <a:srgbClr val="2A3440"/>
                </a:solidFill>
                <a:latin typeface="Tahoma"/>
                <a:cs typeface="Tahoma"/>
              </a:rPr>
              <a:t>and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time</a:t>
            </a:r>
            <a:r>
              <a:rPr dirty="0" sz="1550" spc="-114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periods.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514973" y="2647949"/>
            <a:ext cx="447675" cy="447675"/>
            <a:chOff x="5514973" y="2647949"/>
            <a:chExt cx="447675" cy="447675"/>
          </a:xfrm>
        </p:grpSpPr>
        <p:sp>
          <p:nvSpPr>
            <p:cNvPr id="10" name="object 10"/>
            <p:cNvSpPr/>
            <p:nvPr/>
          </p:nvSpPr>
          <p:spPr>
            <a:xfrm>
              <a:off x="5519736" y="2652712"/>
              <a:ext cx="438150" cy="438150"/>
            </a:xfrm>
            <a:custGeom>
              <a:avLst/>
              <a:gdLst/>
              <a:ahLst/>
              <a:cxnLst/>
              <a:rect l="l" t="t" r="r" b="b"/>
              <a:pathLst>
                <a:path w="438150" h="438150">
                  <a:moveTo>
                    <a:pt x="377365" y="438149"/>
                  </a:moveTo>
                  <a:lnTo>
                    <a:pt x="60785" y="438149"/>
                  </a:lnTo>
                  <a:lnTo>
                    <a:pt x="56554" y="437733"/>
                  </a:lnTo>
                  <a:lnTo>
                    <a:pt x="16034" y="416074"/>
                  </a:lnTo>
                  <a:lnTo>
                    <a:pt x="0" y="377364"/>
                  </a:lnTo>
                  <a:lnTo>
                    <a:pt x="0" y="373092"/>
                  </a:lnTo>
                  <a:lnTo>
                    <a:pt x="0" y="60785"/>
                  </a:lnTo>
                  <a:lnTo>
                    <a:pt x="16034" y="22075"/>
                  </a:lnTo>
                  <a:lnTo>
                    <a:pt x="56554" y="416"/>
                  </a:lnTo>
                  <a:lnTo>
                    <a:pt x="60785" y="0"/>
                  </a:lnTo>
                  <a:lnTo>
                    <a:pt x="377365" y="0"/>
                  </a:lnTo>
                  <a:lnTo>
                    <a:pt x="416073" y="16033"/>
                  </a:lnTo>
                  <a:lnTo>
                    <a:pt x="437733" y="56554"/>
                  </a:lnTo>
                  <a:lnTo>
                    <a:pt x="438150" y="60785"/>
                  </a:lnTo>
                  <a:lnTo>
                    <a:pt x="438150" y="377364"/>
                  </a:lnTo>
                  <a:lnTo>
                    <a:pt x="422115" y="416074"/>
                  </a:lnTo>
                  <a:lnTo>
                    <a:pt x="381595" y="437733"/>
                  </a:lnTo>
                  <a:lnTo>
                    <a:pt x="377365" y="438149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519736" y="2652712"/>
              <a:ext cx="438150" cy="438150"/>
            </a:xfrm>
            <a:custGeom>
              <a:avLst/>
              <a:gdLst/>
              <a:ahLst/>
              <a:cxnLst/>
              <a:rect l="l" t="t" r="r" b="b"/>
              <a:pathLst>
                <a:path w="438150" h="438150">
                  <a:moveTo>
                    <a:pt x="0" y="373092"/>
                  </a:moveTo>
                  <a:lnTo>
                    <a:pt x="0" y="65057"/>
                  </a:lnTo>
                  <a:lnTo>
                    <a:pt x="0" y="60785"/>
                  </a:lnTo>
                  <a:lnTo>
                    <a:pt x="416" y="56554"/>
                  </a:lnTo>
                  <a:lnTo>
                    <a:pt x="1250" y="52364"/>
                  </a:lnTo>
                  <a:lnTo>
                    <a:pt x="2083" y="48175"/>
                  </a:lnTo>
                  <a:lnTo>
                    <a:pt x="3317" y="44107"/>
                  </a:lnTo>
                  <a:lnTo>
                    <a:pt x="19055" y="19054"/>
                  </a:lnTo>
                  <a:lnTo>
                    <a:pt x="22075" y="16033"/>
                  </a:lnTo>
                  <a:lnTo>
                    <a:pt x="40160" y="4951"/>
                  </a:lnTo>
                  <a:lnTo>
                    <a:pt x="44107" y="3317"/>
                  </a:lnTo>
                  <a:lnTo>
                    <a:pt x="48175" y="2083"/>
                  </a:lnTo>
                  <a:lnTo>
                    <a:pt x="52365" y="1249"/>
                  </a:lnTo>
                  <a:lnTo>
                    <a:pt x="56554" y="416"/>
                  </a:lnTo>
                  <a:lnTo>
                    <a:pt x="60785" y="0"/>
                  </a:lnTo>
                  <a:lnTo>
                    <a:pt x="65057" y="0"/>
                  </a:lnTo>
                  <a:lnTo>
                    <a:pt x="373093" y="0"/>
                  </a:lnTo>
                  <a:lnTo>
                    <a:pt x="377365" y="0"/>
                  </a:lnTo>
                  <a:lnTo>
                    <a:pt x="381595" y="416"/>
                  </a:lnTo>
                  <a:lnTo>
                    <a:pt x="385784" y="1249"/>
                  </a:lnTo>
                  <a:lnTo>
                    <a:pt x="389973" y="2083"/>
                  </a:lnTo>
                  <a:lnTo>
                    <a:pt x="394041" y="3317"/>
                  </a:lnTo>
                  <a:lnTo>
                    <a:pt x="397988" y="4951"/>
                  </a:lnTo>
                  <a:lnTo>
                    <a:pt x="401935" y="6586"/>
                  </a:lnTo>
                  <a:lnTo>
                    <a:pt x="431561" y="36214"/>
                  </a:lnTo>
                  <a:lnTo>
                    <a:pt x="433197" y="40160"/>
                  </a:lnTo>
                  <a:lnTo>
                    <a:pt x="434832" y="44107"/>
                  </a:lnTo>
                  <a:lnTo>
                    <a:pt x="436066" y="48175"/>
                  </a:lnTo>
                  <a:lnTo>
                    <a:pt x="436899" y="52364"/>
                  </a:lnTo>
                  <a:lnTo>
                    <a:pt x="437733" y="56554"/>
                  </a:lnTo>
                  <a:lnTo>
                    <a:pt x="438150" y="60785"/>
                  </a:lnTo>
                  <a:lnTo>
                    <a:pt x="438150" y="65057"/>
                  </a:lnTo>
                  <a:lnTo>
                    <a:pt x="438150" y="373092"/>
                  </a:lnTo>
                  <a:lnTo>
                    <a:pt x="438150" y="377364"/>
                  </a:lnTo>
                  <a:lnTo>
                    <a:pt x="437733" y="381594"/>
                  </a:lnTo>
                  <a:lnTo>
                    <a:pt x="436899" y="385784"/>
                  </a:lnTo>
                  <a:lnTo>
                    <a:pt x="436066" y="389974"/>
                  </a:lnTo>
                  <a:lnTo>
                    <a:pt x="434832" y="394042"/>
                  </a:lnTo>
                  <a:lnTo>
                    <a:pt x="433197" y="397988"/>
                  </a:lnTo>
                  <a:lnTo>
                    <a:pt x="431561" y="401935"/>
                  </a:lnTo>
                  <a:lnTo>
                    <a:pt x="401935" y="431562"/>
                  </a:lnTo>
                  <a:lnTo>
                    <a:pt x="397988" y="433197"/>
                  </a:lnTo>
                  <a:lnTo>
                    <a:pt x="394041" y="434832"/>
                  </a:lnTo>
                  <a:lnTo>
                    <a:pt x="389973" y="436066"/>
                  </a:lnTo>
                  <a:lnTo>
                    <a:pt x="385784" y="436899"/>
                  </a:lnTo>
                  <a:lnTo>
                    <a:pt x="381595" y="437733"/>
                  </a:lnTo>
                  <a:lnTo>
                    <a:pt x="377365" y="438149"/>
                  </a:lnTo>
                  <a:lnTo>
                    <a:pt x="373093" y="438149"/>
                  </a:lnTo>
                  <a:lnTo>
                    <a:pt x="65057" y="438149"/>
                  </a:lnTo>
                  <a:lnTo>
                    <a:pt x="60785" y="438149"/>
                  </a:lnTo>
                  <a:lnTo>
                    <a:pt x="56554" y="437733"/>
                  </a:lnTo>
                  <a:lnTo>
                    <a:pt x="52365" y="436899"/>
                  </a:lnTo>
                  <a:lnTo>
                    <a:pt x="48175" y="436066"/>
                  </a:lnTo>
                  <a:lnTo>
                    <a:pt x="44107" y="434832"/>
                  </a:lnTo>
                  <a:lnTo>
                    <a:pt x="40160" y="433197"/>
                  </a:lnTo>
                  <a:lnTo>
                    <a:pt x="36214" y="431562"/>
                  </a:lnTo>
                  <a:lnTo>
                    <a:pt x="19055" y="419095"/>
                  </a:lnTo>
                  <a:lnTo>
                    <a:pt x="16034" y="416074"/>
                  </a:lnTo>
                  <a:lnTo>
                    <a:pt x="1250" y="385784"/>
                  </a:lnTo>
                  <a:lnTo>
                    <a:pt x="416" y="381594"/>
                  </a:lnTo>
                  <a:lnTo>
                    <a:pt x="0" y="377364"/>
                  </a:lnTo>
                  <a:lnTo>
                    <a:pt x="0" y="373092"/>
                  </a:lnTo>
                  <a:close/>
                </a:path>
              </a:pathLst>
            </a:custGeom>
            <a:ln w="9524">
              <a:solidFill>
                <a:srgbClr val="D5CC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5650060" y="2682526"/>
            <a:ext cx="187325" cy="3638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00" spc="-75">
                <a:solidFill>
                  <a:srgbClr val="2A3440"/>
                </a:solidFill>
                <a:latin typeface="Verdana"/>
                <a:cs typeface="Verdana"/>
              </a:rPr>
              <a:t>2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52951" y="2695924"/>
            <a:ext cx="1999614" cy="1748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-95">
                <a:solidFill>
                  <a:srgbClr val="2A3440"/>
                </a:solidFill>
                <a:latin typeface="Verdana"/>
                <a:cs typeface="Verdana"/>
              </a:rPr>
              <a:t>Extract</a:t>
            </a:r>
            <a:r>
              <a:rPr dirty="0" sz="1850" spc="-215">
                <a:solidFill>
                  <a:srgbClr val="2A3440"/>
                </a:solidFill>
                <a:latin typeface="Verdana"/>
                <a:cs typeface="Verdana"/>
              </a:rPr>
              <a:t> </a:t>
            </a:r>
            <a:r>
              <a:rPr dirty="0" sz="1850" spc="-10">
                <a:solidFill>
                  <a:srgbClr val="2A3440"/>
                </a:solidFill>
                <a:latin typeface="Verdana"/>
                <a:cs typeface="Verdana"/>
              </a:rPr>
              <a:t>Insights</a:t>
            </a:r>
            <a:endParaRPr sz="1850">
              <a:latin typeface="Verdana"/>
              <a:cs typeface="Verdana"/>
            </a:endParaRPr>
          </a:p>
          <a:p>
            <a:pPr marL="12700" marR="5080">
              <a:lnSpc>
                <a:spcPct val="134400"/>
              </a:lnSpc>
              <a:spcBef>
                <a:spcPts val="1340"/>
              </a:spcBef>
            </a:pP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Derive</a:t>
            </a:r>
            <a:r>
              <a:rPr dirty="0" sz="1550" spc="-15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actionable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intelligence</a:t>
            </a:r>
            <a:r>
              <a:rPr dirty="0" sz="1550" spc="-9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from</a:t>
            </a:r>
            <a:r>
              <a:rPr dirty="0" sz="1550" spc="-9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flight, </a:t>
            </a:r>
            <a:r>
              <a:rPr dirty="0" sz="1550" spc="-30">
                <a:solidFill>
                  <a:srgbClr val="2A3440"/>
                </a:solidFill>
                <a:latin typeface="Tahoma"/>
                <a:cs typeface="Tahoma"/>
              </a:rPr>
              <a:t>passenger,</a:t>
            </a:r>
            <a:r>
              <a:rPr dirty="0" sz="1550" spc="-10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and</a:t>
            </a:r>
            <a:r>
              <a:rPr dirty="0" sz="1550" spc="-10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2A3440"/>
                </a:solidFill>
                <a:latin typeface="Tahoma"/>
                <a:cs typeface="Tahoma"/>
              </a:rPr>
              <a:t>load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factor</a:t>
            </a:r>
            <a:r>
              <a:rPr dirty="0" sz="1550" spc="-11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datasets.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639174" y="2647949"/>
            <a:ext cx="447675" cy="447675"/>
            <a:chOff x="8639174" y="2647949"/>
            <a:chExt cx="447675" cy="447675"/>
          </a:xfrm>
        </p:grpSpPr>
        <p:sp>
          <p:nvSpPr>
            <p:cNvPr id="15" name="object 15"/>
            <p:cNvSpPr/>
            <p:nvPr/>
          </p:nvSpPr>
          <p:spPr>
            <a:xfrm>
              <a:off x="8643936" y="2652712"/>
              <a:ext cx="438150" cy="438150"/>
            </a:xfrm>
            <a:custGeom>
              <a:avLst/>
              <a:gdLst/>
              <a:ahLst/>
              <a:cxnLst/>
              <a:rect l="l" t="t" r="r" b="b"/>
              <a:pathLst>
                <a:path w="438150" h="438150">
                  <a:moveTo>
                    <a:pt x="377364" y="438149"/>
                  </a:moveTo>
                  <a:lnTo>
                    <a:pt x="60784" y="438149"/>
                  </a:lnTo>
                  <a:lnTo>
                    <a:pt x="56554" y="437733"/>
                  </a:lnTo>
                  <a:lnTo>
                    <a:pt x="16033" y="416074"/>
                  </a:lnTo>
                  <a:lnTo>
                    <a:pt x="0" y="377364"/>
                  </a:lnTo>
                  <a:lnTo>
                    <a:pt x="0" y="373092"/>
                  </a:lnTo>
                  <a:lnTo>
                    <a:pt x="0" y="60785"/>
                  </a:lnTo>
                  <a:lnTo>
                    <a:pt x="16033" y="22075"/>
                  </a:lnTo>
                  <a:lnTo>
                    <a:pt x="56554" y="416"/>
                  </a:lnTo>
                  <a:lnTo>
                    <a:pt x="60784" y="0"/>
                  </a:lnTo>
                  <a:lnTo>
                    <a:pt x="377364" y="0"/>
                  </a:lnTo>
                  <a:lnTo>
                    <a:pt x="416073" y="16033"/>
                  </a:lnTo>
                  <a:lnTo>
                    <a:pt x="437732" y="56554"/>
                  </a:lnTo>
                  <a:lnTo>
                    <a:pt x="438149" y="60785"/>
                  </a:lnTo>
                  <a:lnTo>
                    <a:pt x="438149" y="377364"/>
                  </a:lnTo>
                  <a:lnTo>
                    <a:pt x="422114" y="416074"/>
                  </a:lnTo>
                  <a:lnTo>
                    <a:pt x="381594" y="437733"/>
                  </a:lnTo>
                  <a:lnTo>
                    <a:pt x="377364" y="438149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643936" y="2652712"/>
              <a:ext cx="438150" cy="438150"/>
            </a:xfrm>
            <a:custGeom>
              <a:avLst/>
              <a:gdLst/>
              <a:ahLst/>
              <a:cxnLst/>
              <a:rect l="l" t="t" r="r" b="b"/>
              <a:pathLst>
                <a:path w="438150" h="438150">
                  <a:moveTo>
                    <a:pt x="0" y="373092"/>
                  </a:moveTo>
                  <a:lnTo>
                    <a:pt x="0" y="65057"/>
                  </a:lnTo>
                  <a:lnTo>
                    <a:pt x="0" y="60785"/>
                  </a:lnTo>
                  <a:lnTo>
                    <a:pt x="416" y="56554"/>
                  </a:lnTo>
                  <a:lnTo>
                    <a:pt x="19054" y="19054"/>
                  </a:lnTo>
                  <a:lnTo>
                    <a:pt x="22074" y="16033"/>
                  </a:lnTo>
                  <a:lnTo>
                    <a:pt x="40160" y="4951"/>
                  </a:lnTo>
                  <a:lnTo>
                    <a:pt x="44106" y="3317"/>
                  </a:lnTo>
                  <a:lnTo>
                    <a:pt x="48174" y="2083"/>
                  </a:lnTo>
                  <a:lnTo>
                    <a:pt x="52364" y="1249"/>
                  </a:lnTo>
                  <a:lnTo>
                    <a:pt x="56554" y="416"/>
                  </a:lnTo>
                  <a:lnTo>
                    <a:pt x="60784" y="0"/>
                  </a:lnTo>
                  <a:lnTo>
                    <a:pt x="65057" y="0"/>
                  </a:lnTo>
                  <a:lnTo>
                    <a:pt x="373092" y="0"/>
                  </a:lnTo>
                  <a:lnTo>
                    <a:pt x="377364" y="0"/>
                  </a:lnTo>
                  <a:lnTo>
                    <a:pt x="381594" y="416"/>
                  </a:lnTo>
                  <a:lnTo>
                    <a:pt x="385784" y="1249"/>
                  </a:lnTo>
                  <a:lnTo>
                    <a:pt x="389974" y="2083"/>
                  </a:lnTo>
                  <a:lnTo>
                    <a:pt x="394042" y="3317"/>
                  </a:lnTo>
                  <a:lnTo>
                    <a:pt x="397988" y="4951"/>
                  </a:lnTo>
                  <a:lnTo>
                    <a:pt x="401935" y="6586"/>
                  </a:lnTo>
                  <a:lnTo>
                    <a:pt x="427184" y="28913"/>
                  </a:lnTo>
                  <a:lnTo>
                    <a:pt x="429558" y="32464"/>
                  </a:lnTo>
                  <a:lnTo>
                    <a:pt x="431562" y="36214"/>
                  </a:lnTo>
                  <a:lnTo>
                    <a:pt x="433196" y="40160"/>
                  </a:lnTo>
                  <a:lnTo>
                    <a:pt x="434831" y="44107"/>
                  </a:lnTo>
                  <a:lnTo>
                    <a:pt x="438149" y="65057"/>
                  </a:lnTo>
                  <a:lnTo>
                    <a:pt x="438149" y="373092"/>
                  </a:lnTo>
                  <a:lnTo>
                    <a:pt x="424811" y="412788"/>
                  </a:lnTo>
                  <a:lnTo>
                    <a:pt x="397988" y="433197"/>
                  </a:lnTo>
                  <a:lnTo>
                    <a:pt x="394042" y="434832"/>
                  </a:lnTo>
                  <a:lnTo>
                    <a:pt x="389974" y="436066"/>
                  </a:lnTo>
                  <a:lnTo>
                    <a:pt x="385784" y="436899"/>
                  </a:lnTo>
                  <a:lnTo>
                    <a:pt x="381594" y="437733"/>
                  </a:lnTo>
                  <a:lnTo>
                    <a:pt x="377364" y="438149"/>
                  </a:lnTo>
                  <a:lnTo>
                    <a:pt x="373092" y="438149"/>
                  </a:lnTo>
                  <a:lnTo>
                    <a:pt x="65057" y="438149"/>
                  </a:lnTo>
                  <a:lnTo>
                    <a:pt x="60784" y="438149"/>
                  </a:lnTo>
                  <a:lnTo>
                    <a:pt x="56554" y="437733"/>
                  </a:lnTo>
                  <a:lnTo>
                    <a:pt x="52364" y="436899"/>
                  </a:lnTo>
                  <a:lnTo>
                    <a:pt x="48174" y="436066"/>
                  </a:lnTo>
                  <a:lnTo>
                    <a:pt x="44106" y="434832"/>
                  </a:lnTo>
                  <a:lnTo>
                    <a:pt x="40160" y="433197"/>
                  </a:lnTo>
                  <a:lnTo>
                    <a:pt x="36213" y="431562"/>
                  </a:lnTo>
                  <a:lnTo>
                    <a:pt x="19054" y="419095"/>
                  </a:lnTo>
                  <a:lnTo>
                    <a:pt x="16033" y="416074"/>
                  </a:lnTo>
                  <a:lnTo>
                    <a:pt x="0" y="377364"/>
                  </a:lnTo>
                  <a:lnTo>
                    <a:pt x="0" y="373092"/>
                  </a:lnTo>
                  <a:close/>
                </a:path>
              </a:pathLst>
            </a:custGeom>
            <a:ln w="9524">
              <a:solidFill>
                <a:srgbClr val="D5CC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8767564" y="2682526"/>
            <a:ext cx="187325" cy="3638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00" spc="-75">
                <a:solidFill>
                  <a:srgbClr val="2A3440"/>
                </a:solidFill>
                <a:latin typeface="Verdana"/>
                <a:cs typeface="Verdana"/>
              </a:rPr>
              <a:t>3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70454" y="2695924"/>
            <a:ext cx="2107565" cy="2072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-65">
                <a:solidFill>
                  <a:srgbClr val="2A3440"/>
                </a:solidFill>
                <a:latin typeface="Verdana"/>
                <a:cs typeface="Verdana"/>
              </a:rPr>
              <a:t>Build</a:t>
            </a:r>
            <a:r>
              <a:rPr dirty="0" sz="1850" spc="-260">
                <a:solidFill>
                  <a:srgbClr val="2A3440"/>
                </a:solidFill>
                <a:latin typeface="Verdana"/>
                <a:cs typeface="Verdana"/>
              </a:rPr>
              <a:t> </a:t>
            </a:r>
            <a:r>
              <a:rPr dirty="0" sz="1850" spc="-10">
                <a:solidFill>
                  <a:srgbClr val="2A3440"/>
                </a:solidFill>
                <a:latin typeface="Verdana"/>
                <a:cs typeface="Verdana"/>
              </a:rPr>
              <a:t>Dashboards</a:t>
            </a:r>
            <a:endParaRPr sz="1850">
              <a:latin typeface="Verdana"/>
              <a:cs typeface="Verdana"/>
            </a:endParaRPr>
          </a:p>
          <a:p>
            <a:pPr marL="12700" marR="5080">
              <a:lnSpc>
                <a:spcPct val="135100"/>
              </a:lnSpc>
              <a:spcBef>
                <a:spcPts val="1330"/>
              </a:spcBef>
            </a:pP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Develop</a:t>
            </a:r>
            <a:r>
              <a:rPr dirty="0" sz="1550" spc="-114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45">
                <a:solidFill>
                  <a:srgbClr val="2A3440"/>
                </a:solidFill>
                <a:latin typeface="Tahoma"/>
                <a:cs typeface="Tahoma"/>
              </a:rPr>
              <a:t>real-</a:t>
            </a:r>
            <a:r>
              <a:rPr dirty="0" sz="1550" spc="-20">
                <a:solidFill>
                  <a:srgbClr val="2A3440"/>
                </a:solidFill>
                <a:latin typeface="Tahoma"/>
                <a:cs typeface="Tahoma"/>
              </a:rPr>
              <a:t>time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business</a:t>
            </a:r>
            <a:r>
              <a:rPr dirty="0" sz="1550" spc="-4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intelligence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dashboards</a:t>
            </a:r>
            <a:r>
              <a:rPr dirty="0" sz="1550" spc="-13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for</a:t>
            </a:r>
            <a:r>
              <a:rPr dirty="0" sz="1550" spc="-13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ongoing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monitoring</a:t>
            </a:r>
            <a:r>
              <a:rPr dirty="0" sz="1550" spc="-10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and</a:t>
            </a:r>
            <a:r>
              <a:rPr dirty="0" sz="1550" spc="-9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decision support.</a:t>
            </a:r>
            <a:endParaRPr sz="1550">
              <a:latin typeface="Tahoma"/>
              <a:cs typeface="Tahoma"/>
            </a:endParaRPr>
          </a:p>
        </p:txBody>
      </p:sp>
      <p:pic>
        <p:nvPicPr>
          <p:cNvPr id="19" name="object 19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5452" y="1861153"/>
            <a:ext cx="4606290" cy="588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700" spc="-165"/>
              <a:t>Data</a:t>
            </a:r>
            <a:r>
              <a:rPr dirty="0" sz="3700" spc="-440"/>
              <a:t> </a:t>
            </a:r>
            <a:r>
              <a:rPr dirty="0" sz="3700" spc="-130"/>
              <a:t>Sources</a:t>
            </a:r>
            <a:r>
              <a:rPr dirty="0" sz="3700" spc="-440"/>
              <a:t> </a:t>
            </a:r>
            <a:r>
              <a:rPr dirty="0" sz="3700" spc="-215"/>
              <a:t>&amp;</a:t>
            </a:r>
            <a:r>
              <a:rPr dirty="0" sz="3700" spc="-440"/>
              <a:t> </a:t>
            </a:r>
            <a:r>
              <a:rPr dirty="0" sz="3700" spc="-125"/>
              <a:t>Tools</a:t>
            </a:r>
            <a:endParaRPr sz="3700"/>
          </a:p>
        </p:txBody>
      </p:sp>
      <p:grpSp>
        <p:nvGrpSpPr>
          <p:cNvPr id="3" name="object 3"/>
          <p:cNvGrpSpPr/>
          <p:nvPr/>
        </p:nvGrpSpPr>
        <p:grpSpPr>
          <a:xfrm>
            <a:off x="695324" y="2867024"/>
            <a:ext cx="3467100" cy="2114550"/>
            <a:chOff x="695324" y="2867024"/>
            <a:chExt cx="3467100" cy="2114550"/>
          </a:xfrm>
        </p:grpSpPr>
        <p:sp>
          <p:nvSpPr>
            <p:cNvPr id="4" name="object 4"/>
            <p:cNvSpPr/>
            <p:nvPr/>
          </p:nvSpPr>
          <p:spPr>
            <a:xfrm>
              <a:off x="700087" y="2871787"/>
              <a:ext cx="3457575" cy="2105025"/>
            </a:xfrm>
            <a:custGeom>
              <a:avLst/>
              <a:gdLst/>
              <a:ahLst/>
              <a:cxnLst/>
              <a:rect l="l" t="t" r="r" b="b"/>
              <a:pathLst>
                <a:path w="3457575" h="2105025">
                  <a:moveTo>
                    <a:pt x="3396789" y="2105024"/>
                  </a:moveTo>
                  <a:lnTo>
                    <a:pt x="60785" y="2105024"/>
                  </a:lnTo>
                  <a:lnTo>
                    <a:pt x="56554" y="2104607"/>
                  </a:lnTo>
                  <a:lnTo>
                    <a:pt x="16034" y="2082948"/>
                  </a:lnTo>
                  <a:lnTo>
                    <a:pt x="0" y="2044239"/>
                  </a:lnTo>
                  <a:lnTo>
                    <a:pt x="0" y="2039967"/>
                  </a:lnTo>
                  <a:lnTo>
                    <a:pt x="0" y="60785"/>
                  </a:lnTo>
                  <a:lnTo>
                    <a:pt x="16034" y="22075"/>
                  </a:lnTo>
                  <a:lnTo>
                    <a:pt x="56554" y="416"/>
                  </a:lnTo>
                  <a:lnTo>
                    <a:pt x="60785" y="0"/>
                  </a:lnTo>
                  <a:lnTo>
                    <a:pt x="3396789" y="0"/>
                  </a:lnTo>
                  <a:lnTo>
                    <a:pt x="3435498" y="16033"/>
                  </a:lnTo>
                  <a:lnTo>
                    <a:pt x="3457157" y="56554"/>
                  </a:lnTo>
                  <a:lnTo>
                    <a:pt x="3457574" y="60785"/>
                  </a:lnTo>
                  <a:lnTo>
                    <a:pt x="3457574" y="2044239"/>
                  </a:lnTo>
                  <a:lnTo>
                    <a:pt x="3441540" y="2082948"/>
                  </a:lnTo>
                  <a:lnTo>
                    <a:pt x="3401019" y="2104607"/>
                  </a:lnTo>
                  <a:lnTo>
                    <a:pt x="3396789" y="2105024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00087" y="2871787"/>
              <a:ext cx="3457575" cy="2105025"/>
            </a:xfrm>
            <a:custGeom>
              <a:avLst/>
              <a:gdLst/>
              <a:ahLst/>
              <a:cxnLst/>
              <a:rect l="l" t="t" r="r" b="b"/>
              <a:pathLst>
                <a:path w="3457575" h="2105025">
                  <a:moveTo>
                    <a:pt x="0" y="2039967"/>
                  </a:moveTo>
                  <a:lnTo>
                    <a:pt x="0" y="65057"/>
                  </a:lnTo>
                  <a:lnTo>
                    <a:pt x="0" y="60785"/>
                  </a:lnTo>
                  <a:lnTo>
                    <a:pt x="416" y="56554"/>
                  </a:lnTo>
                  <a:lnTo>
                    <a:pt x="19054" y="19054"/>
                  </a:lnTo>
                  <a:lnTo>
                    <a:pt x="22075" y="16033"/>
                  </a:lnTo>
                  <a:lnTo>
                    <a:pt x="25361" y="13336"/>
                  </a:lnTo>
                  <a:lnTo>
                    <a:pt x="28913" y="10964"/>
                  </a:lnTo>
                  <a:lnTo>
                    <a:pt x="32465" y="8590"/>
                  </a:lnTo>
                  <a:lnTo>
                    <a:pt x="36214" y="6586"/>
                  </a:lnTo>
                  <a:lnTo>
                    <a:pt x="40160" y="4952"/>
                  </a:lnTo>
                  <a:lnTo>
                    <a:pt x="44107" y="3317"/>
                  </a:lnTo>
                  <a:lnTo>
                    <a:pt x="48175" y="2083"/>
                  </a:lnTo>
                  <a:lnTo>
                    <a:pt x="52364" y="1249"/>
                  </a:lnTo>
                  <a:lnTo>
                    <a:pt x="56554" y="416"/>
                  </a:lnTo>
                  <a:lnTo>
                    <a:pt x="60785" y="0"/>
                  </a:lnTo>
                  <a:lnTo>
                    <a:pt x="65056" y="0"/>
                  </a:lnTo>
                  <a:lnTo>
                    <a:pt x="3392517" y="0"/>
                  </a:lnTo>
                  <a:lnTo>
                    <a:pt x="3396789" y="0"/>
                  </a:lnTo>
                  <a:lnTo>
                    <a:pt x="3401019" y="416"/>
                  </a:lnTo>
                  <a:lnTo>
                    <a:pt x="3405209" y="1249"/>
                  </a:lnTo>
                  <a:lnTo>
                    <a:pt x="3409398" y="2083"/>
                  </a:lnTo>
                  <a:lnTo>
                    <a:pt x="3413466" y="3317"/>
                  </a:lnTo>
                  <a:lnTo>
                    <a:pt x="3417413" y="4952"/>
                  </a:lnTo>
                  <a:lnTo>
                    <a:pt x="3421360" y="6586"/>
                  </a:lnTo>
                  <a:lnTo>
                    <a:pt x="3425108" y="8590"/>
                  </a:lnTo>
                  <a:lnTo>
                    <a:pt x="3428660" y="10964"/>
                  </a:lnTo>
                  <a:lnTo>
                    <a:pt x="3432212" y="13336"/>
                  </a:lnTo>
                  <a:lnTo>
                    <a:pt x="3455490" y="48174"/>
                  </a:lnTo>
                  <a:lnTo>
                    <a:pt x="3457574" y="60785"/>
                  </a:lnTo>
                  <a:lnTo>
                    <a:pt x="3457574" y="65057"/>
                  </a:lnTo>
                  <a:lnTo>
                    <a:pt x="3457574" y="2039967"/>
                  </a:lnTo>
                  <a:lnTo>
                    <a:pt x="3457574" y="2044239"/>
                  </a:lnTo>
                  <a:lnTo>
                    <a:pt x="3457158" y="2048469"/>
                  </a:lnTo>
                  <a:lnTo>
                    <a:pt x="3438519" y="2085969"/>
                  </a:lnTo>
                  <a:lnTo>
                    <a:pt x="3417413" y="2100071"/>
                  </a:lnTo>
                  <a:lnTo>
                    <a:pt x="3413466" y="2101706"/>
                  </a:lnTo>
                  <a:lnTo>
                    <a:pt x="3409398" y="2102940"/>
                  </a:lnTo>
                  <a:lnTo>
                    <a:pt x="3405209" y="2103773"/>
                  </a:lnTo>
                  <a:lnTo>
                    <a:pt x="3401019" y="2104607"/>
                  </a:lnTo>
                  <a:lnTo>
                    <a:pt x="3396789" y="2105024"/>
                  </a:lnTo>
                  <a:lnTo>
                    <a:pt x="3392517" y="2105024"/>
                  </a:lnTo>
                  <a:lnTo>
                    <a:pt x="65056" y="2105024"/>
                  </a:lnTo>
                  <a:lnTo>
                    <a:pt x="60785" y="2105024"/>
                  </a:lnTo>
                  <a:lnTo>
                    <a:pt x="56554" y="2104607"/>
                  </a:lnTo>
                  <a:lnTo>
                    <a:pt x="52364" y="2103774"/>
                  </a:lnTo>
                  <a:lnTo>
                    <a:pt x="48175" y="2102941"/>
                  </a:lnTo>
                  <a:lnTo>
                    <a:pt x="13337" y="2079662"/>
                  </a:lnTo>
                  <a:lnTo>
                    <a:pt x="0" y="2044239"/>
                  </a:lnTo>
                  <a:lnTo>
                    <a:pt x="0" y="2039967"/>
                  </a:lnTo>
                  <a:close/>
                </a:path>
              </a:pathLst>
            </a:custGeom>
            <a:ln w="9524">
              <a:solidFill>
                <a:srgbClr val="D5CC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894407" y="3016177"/>
            <a:ext cx="2860040" cy="17132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spc="7309" b="1">
                <a:latin typeface="Roboto Bk"/>
                <a:cs typeface="Roboto Bk"/>
              </a:rPr>
              <a:t>📊</a:t>
            </a:r>
            <a:r>
              <a:rPr dirty="0" sz="2150" spc="-215" b="1">
                <a:latin typeface="Roboto Bk"/>
                <a:cs typeface="Roboto Bk"/>
              </a:rPr>
              <a:t> </a:t>
            </a:r>
            <a:r>
              <a:rPr dirty="0" sz="1850" spc="-20">
                <a:solidFill>
                  <a:srgbClr val="2A3440"/>
                </a:solidFill>
                <a:latin typeface="Verdana"/>
                <a:cs typeface="Verdana"/>
              </a:rPr>
              <a:t>Data</a:t>
            </a:r>
            <a:endParaRPr sz="1850">
              <a:latin typeface="Verdana"/>
              <a:cs typeface="Verdana"/>
            </a:endParaRPr>
          </a:p>
          <a:p>
            <a:pPr marL="12700" marR="5080">
              <a:lnSpc>
                <a:spcPct val="134400"/>
              </a:lnSpc>
              <a:spcBef>
                <a:spcPts val="680"/>
              </a:spcBef>
            </a:pP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Flight</a:t>
            </a:r>
            <a:r>
              <a:rPr dirty="0" sz="1550" spc="-11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2A3440"/>
                </a:solidFill>
                <a:latin typeface="Tahoma"/>
                <a:cs typeface="Tahoma"/>
              </a:rPr>
              <a:t>records,</a:t>
            </a:r>
            <a:r>
              <a:rPr dirty="0" sz="1550" spc="-11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passenger</a:t>
            </a:r>
            <a:r>
              <a:rPr dirty="0" sz="1550" spc="-10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counts,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seat</a:t>
            </a:r>
            <a:r>
              <a:rPr dirty="0" sz="1550" spc="-13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45">
                <a:solidFill>
                  <a:srgbClr val="2A3440"/>
                </a:solidFill>
                <a:latin typeface="Tahoma"/>
                <a:cs typeface="Tahoma"/>
              </a:rPr>
              <a:t>availability,</a:t>
            </a:r>
            <a:r>
              <a:rPr dirty="0" sz="1550" spc="-12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and</a:t>
            </a:r>
            <a:r>
              <a:rPr dirty="0" sz="1550" spc="-13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distance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metrics</a:t>
            </a:r>
            <a:r>
              <a:rPr dirty="0" sz="1550" spc="-10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spanning</a:t>
            </a:r>
            <a:r>
              <a:rPr dirty="0" sz="1550" spc="-9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the</a:t>
            </a:r>
            <a:r>
              <a:rPr dirty="0" sz="1550" spc="-10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full</a:t>
            </a:r>
            <a:r>
              <a:rPr dirty="0" sz="1550" spc="-9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analysis period.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362449" y="2867024"/>
            <a:ext cx="3467100" cy="2114550"/>
            <a:chOff x="4362449" y="2867024"/>
            <a:chExt cx="3467100" cy="2114550"/>
          </a:xfrm>
        </p:grpSpPr>
        <p:sp>
          <p:nvSpPr>
            <p:cNvPr id="8" name="object 8"/>
            <p:cNvSpPr/>
            <p:nvPr/>
          </p:nvSpPr>
          <p:spPr>
            <a:xfrm>
              <a:off x="4367212" y="2871787"/>
              <a:ext cx="3457575" cy="2105025"/>
            </a:xfrm>
            <a:custGeom>
              <a:avLst/>
              <a:gdLst/>
              <a:ahLst/>
              <a:cxnLst/>
              <a:rect l="l" t="t" r="r" b="b"/>
              <a:pathLst>
                <a:path w="3457575" h="2105025">
                  <a:moveTo>
                    <a:pt x="3396788" y="2105024"/>
                  </a:moveTo>
                  <a:lnTo>
                    <a:pt x="60784" y="2105024"/>
                  </a:lnTo>
                  <a:lnTo>
                    <a:pt x="56554" y="2104607"/>
                  </a:lnTo>
                  <a:lnTo>
                    <a:pt x="16033" y="2082948"/>
                  </a:lnTo>
                  <a:lnTo>
                    <a:pt x="0" y="2044239"/>
                  </a:lnTo>
                  <a:lnTo>
                    <a:pt x="0" y="2039967"/>
                  </a:lnTo>
                  <a:lnTo>
                    <a:pt x="0" y="60785"/>
                  </a:lnTo>
                  <a:lnTo>
                    <a:pt x="16033" y="22075"/>
                  </a:lnTo>
                  <a:lnTo>
                    <a:pt x="56554" y="416"/>
                  </a:lnTo>
                  <a:lnTo>
                    <a:pt x="60784" y="0"/>
                  </a:lnTo>
                  <a:lnTo>
                    <a:pt x="3396788" y="0"/>
                  </a:lnTo>
                  <a:lnTo>
                    <a:pt x="3435498" y="16033"/>
                  </a:lnTo>
                  <a:lnTo>
                    <a:pt x="3457157" y="56554"/>
                  </a:lnTo>
                  <a:lnTo>
                    <a:pt x="3457574" y="60785"/>
                  </a:lnTo>
                  <a:lnTo>
                    <a:pt x="3457574" y="2044239"/>
                  </a:lnTo>
                  <a:lnTo>
                    <a:pt x="3441539" y="2082948"/>
                  </a:lnTo>
                  <a:lnTo>
                    <a:pt x="3401019" y="2104607"/>
                  </a:lnTo>
                  <a:lnTo>
                    <a:pt x="3396788" y="2105024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367212" y="2871787"/>
              <a:ext cx="3457575" cy="2105025"/>
            </a:xfrm>
            <a:custGeom>
              <a:avLst/>
              <a:gdLst/>
              <a:ahLst/>
              <a:cxnLst/>
              <a:rect l="l" t="t" r="r" b="b"/>
              <a:pathLst>
                <a:path w="3457575" h="2105025">
                  <a:moveTo>
                    <a:pt x="0" y="2039967"/>
                  </a:moveTo>
                  <a:lnTo>
                    <a:pt x="0" y="65057"/>
                  </a:lnTo>
                  <a:lnTo>
                    <a:pt x="0" y="60785"/>
                  </a:lnTo>
                  <a:lnTo>
                    <a:pt x="416" y="56554"/>
                  </a:lnTo>
                  <a:lnTo>
                    <a:pt x="1249" y="52364"/>
                  </a:lnTo>
                  <a:lnTo>
                    <a:pt x="2083" y="48174"/>
                  </a:lnTo>
                  <a:lnTo>
                    <a:pt x="3317" y="44106"/>
                  </a:lnTo>
                  <a:lnTo>
                    <a:pt x="19054" y="19054"/>
                  </a:lnTo>
                  <a:lnTo>
                    <a:pt x="22075" y="16033"/>
                  </a:lnTo>
                  <a:lnTo>
                    <a:pt x="25361" y="13336"/>
                  </a:lnTo>
                  <a:lnTo>
                    <a:pt x="28913" y="10964"/>
                  </a:lnTo>
                  <a:lnTo>
                    <a:pt x="32464" y="8590"/>
                  </a:lnTo>
                  <a:lnTo>
                    <a:pt x="52364" y="1249"/>
                  </a:lnTo>
                  <a:lnTo>
                    <a:pt x="56554" y="416"/>
                  </a:lnTo>
                  <a:lnTo>
                    <a:pt x="60784" y="0"/>
                  </a:lnTo>
                  <a:lnTo>
                    <a:pt x="65057" y="0"/>
                  </a:lnTo>
                  <a:lnTo>
                    <a:pt x="3392517" y="0"/>
                  </a:lnTo>
                  <a:lnTo>
                    <a:pt x="3396788" y="0"/>
                  </a:lnTo>
                  <a:lnTo>
                    <a:pt x="3401019" y="416"/>
                  </a:lnTo>
                  <a:lnTo>
                    <a:pt x="3428660" y="10964"/>
                  </a:lnTo>
                  <a:lnTo>
                    <a:pt x="3432212" y="13336"/>
                  </a:lnTo>
                  <a:lnTo>
                    <a:pt x="3446609" y="28912"/>
                  </a:lnTo>
                  <a:lnTo>
                    <a:pt x="3448982" y="32464"/>
                  </a:lnTo>
                  <a:lnTo>
                    <a:pt x="3456324" y="52364"/>
                  </a:lnTo>
                  <a:lnTo>
                    <a:pt x="3457157" y="56554"/>
                  </a:lnTo>
                  <a:lnTo>
                    <a:pt x="3457574" y="60785"/>
                  </a:lnTo>
                  <a:lnTo>
                    <a:pt x="3457574" y="65057"/>
                  </a:lnTo>
                  <a:lnTo>
                    <a:pt x="3457574" y="2039967"/>
                  </a:lnTo>
                  <a:lnTo>
                    <a:pt x="3457574" y="2044239"/>
                  </a:lnTo>
                  <a:lnTo>
                    <a:pt x="3457157" y="2048469"/>
                  </a:lnTo>
                  <a:lnTo>
                    <a:pt x="3438519" y="2085969"/>
                  </a:lnTo>
                  <a:lnTo>
                    <a:pt x="3417413" y="2100071"/>
                  </a:lnTo>
                  <a:lnTo>
                    <a:pt x="3413466" y="2101706"/>
                  </a:lnTo>
                  <a:lnTo>
                    <a:pt x="3409398" y="2102940"/>
                  </a:lnTo>
                  <a:lnTo>
                    <a:pt x="3405209" y="2103773"/>
                  </a:lnTo>
                  <a:lnTo>
                    <a:pt x="3401019" y="2104607"/>
                  </a:lnTo>
                  <a:lnTo>
                    <a:pt x="3396788" y="2105024"/>
                  </a:lnTo>
                  <a:lnTo>
                    <a:pt x="3392517" y="2105024"/>
                  </a:lnTo>
                  <a:lnTo>
                    <a:pt x="65057" y="2105024"/>
                  </a:lnTo>
                  <a:lnTo>
                    <a:pt x="60784" y="2105024"/>
                  </a:lnTo>
                  <a:lnTo>
                    <a:pt x="56554" y="2104607"/>
                  </a:lnTo>
                  <a:lnTo>
                    <a:pt x="52364" y="2103774"/>
                  </a:lnTo>
                  <a:lnTo>
                    <a:pt x="48174" y="2102941"/>
                  </a:lnTo>
                  <a:lnTo>
                    <a:pt x="13336" y="2079662"/>
                  </a:lnTo>
                  <a:lnTo>
                    <a:pt x="0" y="2044239"/>
                  </a:lnTo>
                  <a:lnTo>
                    <a:pt x="0" y="2039967"/>
                  </a:lnTo>
                  <a:close/>
                </a:path>
              </a:pathLst>
            </a:custGeom>
            <a:ln w="9524">
              <a:solidFill>
                <a:srgbClr val="D5CC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4559448" y="3016177"/>
            <a:ext cx="2696210" cy="17132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spc="7309" b="1">
                <a:latin typeface="Roboto Bk"/>
                <a:cs typeface="Roboto Bk"/>
              </a:rPr>
              <a:t>🛠</a:t>
            </a:r>
            <a:r>
              <a:rPr dirty="0" sz="2150" spc="-215" b="1">
                <a:latin typeface="Roboto Bk"/>
                <a:cs typeface="Roboto Bk"/>
              </a:rPr>
              <a:t> </a:t>
            </a:r>
            <a:r>
              <a:rPr dirty="0" sz="1850" spc="-20">
                <a:solidFill>
                  <a:srgbClr val="2A3440"/>
                </a:solidFill>
                <a:latin typeface="Verdana"/>
                <a:cs typeface="Verdana"/>
              </a:rPr>
              <a:t>Tools</a:t>
            </a:r>
            <a:endParaRPr sz="1850">
              <a:latin typeface="Verdana"/>
              <a:cs typeface="Verdana"/>
            </a:endParaRPr>
          </a:p>
          <a:p>
            <a:pPr marL="12700" marR="5080">
              <a:lnSpc>
                <a:spcPct val="134400"/>
              </a:lnSpc>
              <a:spcBef>
                <a:spcPts val="680"/>
              </a:spcBef>
            </a:pP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SQL</a:t>
            </a:r>
            <a:r>
              <a:rPr dirty="0" sz="1550" spc="-9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2A3440"/>
                </a:solidFill>
                <a:latin typeface="Tahoma"/>
                <a:cs typeface="Tahoma"/>
              </a:rPr>
              <a:t>queries,</a:t>
            </a:r>
            <a:r>
              <a:rPr dirty="0" sz="1550" spc="-9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Excel</a:t>
            </a:r>
            <a:r>
              <a:rPr dirty="0" sz="1550" spc="-9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dashboards,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Power</a:t>
            </a:r>
            <a:r>
              <a:rPr dirty="0" sz="1550" spc="-13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90">
                <a:solidFill>
                  <a:srgbClr val="2A3440"/>
                </a:solidFill>
                <a:latin typeface="Tahoma"/>
                <a:cs typeface="Tahoma"/>
              </a:rPr>
              <a:t>BI,</a:t>
            </a:r>
            <a:r>
              <a:rPr dirty="0" sz="1550" spc="-13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and</a:t>
            </a:r>
            <a:r>
              <a:rPr dirty="0" sz="1550" spc="-13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Tableau visualizations</a:t>
            </a:r>
            <a:r>
              <a:rPr dirty="0" sz="1550" spc="-5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for</a:t>
            </a:r>
            <a:r>
              <a:rPr dirty="0" sz="1550" spc="-4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25">
                <a:solidFill>
                  <a:srgbClr val="2A3440"/>
                </a:solidFill>
                <a:latin typeface="Tahoma"/>
                <a:cs typeface="Tahoma"/>
              </a:rPr>
              <a:t>multi-</a:t>
            </a:r>
            <a:r>
              <a:rPr dirty="0" sz="1550" spc="-20">
                <a:solidFill>
                  <a:srgbClr val="2A3440"/>
                </a:solidFill>
                <a:latin typeface="Tahoma"/>
                <a:cs typeface="Tahoma"/>
              </a:rPr>
              <a:t>layer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analysis.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029574" y="2867024"/>
            <a:ext cx="3467100" cy="2114550"/>
            <a:chOff x="8029574" y="2867024"/>
            <a:chExt cx="3467100" cy="2114550"/>
          </a:xfrm>
        </p:grpSpPr>
        <p:sp>
          <p:nvSpPr>
            <p:cNvPr id="12" name="object 12"/>
            <p:cNvSpPr/>
            <p:nvPr/>
          </p:nvSpPr>
          <p:spPr>
            <a:xfrm>
              <a:off x="8034336" y="2871787"/>
              <a:ext cx="3457575" cy="2105025"/>
            </a:xfrm>
            <a:custGeom>
              <a:avLst/>
              <a:gdLst/>
              <a:ahLst/>
              <a:cxnLst/>
              <a:rect l="l" t="t" r="r" b="b"/>
              <a:pathLst>
                <a:path w="3457575" h="2105025">
                  <a:moveTo>
                    <a:pt x="3396788" y="2105024"/>
                  </a:moveTo>
                  <a:lnTo>
                    <a:pt x="60784" y="2105024"/>
                  </a:lnTo>
                  <a:lnTo>
                    <a:pt x="56554" y="2104607"/>
                  </a:lnTo>
                  <a:lnTo>
                    <a:pt x="16033" y="2082948"/>
                  </a:lnTo>
                  <a:lnTo>
                    <a:pt x="0" y="2044239"/>
                  </a:lnTo>
                  <a:lnTo>
                    <a:pt x="0" y="2039967"/>
                  </a:lnTo>
                  <a:lnTo>
                    <a:pt x="0" y="60785"/>
                  </a:lnTo>
                  <a:lnTo>
                    <a:pt x="16033" y="22075"/>
                  </a:lnTo>
                  <a:lnTo>
                    <a:pt x="56553" y="416"/>
                  </a:lnTo>
                  <a:lnTo>
                    <a:pt x="60784" y="0"/>
                  </a:lnTo>
                  <a:lnTo>
                    <a:pt x="3396788" y="0"/>
                  </a:lnTo>
                  <a:lnTo>
                    <a:pt x="3435498" y="16033"/>
                  </a:lnTo>
                  <a:lnTo>
                    <a:pt x="3457157" y="56554"/>
                  </a:lnTo>
                  <a:lnTo>
                    <a:pt x="3457574" y="60785"/>
                  </a:lnTo>
                  <a:lnTo>
                    <a:pt x="3457574" y="2044239"/>
                  </a:lnTo>
                  <a:lnTo>
                    <a:pt x="3441539" y="2082948"/>
                  </a:lnTo>
                  <a:lnTo>
                    <a:pt x="3401020" y="2104607"/>
                  </a:lnTo>
                  <a:lnTo>
                    <a:pt x="3396788" y="2105024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034336" y="2871787"/>
              <a:ext cx="3457575" cy="2105025"/>
            </a:xfrm>
            <a:custGeom>
              <a:avLst/>
              <a:gdLst/>
              <a:ahLst/>
              <a:cxnLst/>
              <a:rect l="l" t="t" r="r" b="b"/>
              <a:pathLst>
                <a:path w="3457575" h="2105025">
                  <a:moveTo>
                    <a:pt x="0" y="2039967"/>
                  </a:moveTo>
                  <a:lnTo>
                    <a:pt x="0" y="65057"/>
                  </a:lnTo>
                  <a:lnTo>
                    <a:pt x="0" y="60785"/>
                  </a:lnTo>
                  <a:lnTo>
                    <a:pt x="416" y="56554"/>
                  </a:lnTo>
                  <a:lnTo>
                    <a:pt x="19054" y="19054"/>
                  </a:lnTo>
                  <a:lnTo>
                    <a:pt x="22074" y="16033"/>
                  </a:lnTo>
                  <a:lnTo>
                    <a:pt x="25360" y="13336"/>
                  </a:lnTo>
                  <a:lnTo>
                    <a:pt x="28912" y="10964"/>
                  </a:lnTo>
                  <a:lnTo>
                    <a:pt x="32463" y="8590"/>
                  </a:lnTo>
                  <a:lnTo>
                    <a:pt x="36212" y="6586"/>
                  </a:lnTo>
                  <a:lnTo>
                    <a:pt x="40159" y="4952"/>
                  </a:lnTo>
                  <a:lnTo>
                    <a:pt x="44105" y="3317"/>
                  </a:lnTo>
                  <a:lnTo>
                    <a:pt x="48173" y="2083"/>
                  </a:lnTo>
                  <a:lnTo>
                    <a:pt x="52363" y="1249"/>
                  </a:lnTo>
                  <a:lnTo>
                    <a:pt x="56553" y="416"/>
                  </a:lnTo>
                  <a:lnTo>
                    <a:pt x="60784" y="0"/>
                  </a:lnTo>
                  <a:lnTo>
                    <a:pt x="65057" y="0"/>
                  </a:lnTo>
                  <a:lnTo>
                    <a:pt x="3392518" y="0"/>
                  </a:lnTo>
                  <a:lnTo>
                    <a:pt x="3396788" y="0"/>
                  </a:lnTo>
                  <a:lnTo>
                    <a:pt x="3401020" y="416"/>
                  </a:lnTo>
                  <a:lnTo>
                    <a:pt x="3405209" y="1249"/>
                  </a:lnTo>
                  <a:lnTo>
                    <a:pt x="3409398" y="2083"/>
                  </a:lnTo>
                  <a:lnTo>
                    <a:pt x="3428660" y="10964"/>
                  </a:lnTo>
                  <a:lnTo>
                    <a:pt x="3432212" y="13336"/>
                  </a:lnTo>
                  <a:lnTo>
                    <a:pt x="3435498" y="16033"/>
                  </a:lnTo>
                  <a:lnTo>
                    <a:pt x="3438518" y="19054"/>
                  </a:lnTo>
                  <a:lnTo>
                    <a:pt x="3441539" y="22075"/>
                  </a:lnTo>
                  <a:lnTo>
                    <a:pt x="3444236" y="25360"/>
                  </a:lnTo>
                  <a:lnTo>
                    <a:pt x="3446609" y="28912"/>
                  </a:lnTo>
                  <a:lnTo>
                    <a:pt x="3448982" y="32464"/>
                  </a:lnTo>
                  <a:lnTo>
                    <a:pt x="3450985" y="36213"/>
                  </a:lnTo>
                  <a:lnTo>
                    <a:pt x="3452620" y="40160"/>
                  </a:lnTo>
                  <a:lnTo>
                    <a:pt x="3454256" y="44106"/>
                  </a:lnTo>
                  <a:lnTo>
                    <a:pt x="3455489" y="48174"/>
                  </a:lnTo>
                  <a:lnTo>
                    <a:pt x="3456323" y="52364"/>
                  </a:lnTo>
                  <a:lnTo>
                    <a:pt x="3457157" y="56554"/>
                  </a:lnTo>
                  <a:lnTo>
                    <a:pt x="3457574" y="60785"/>
                  </a:lnTo>
                  <a:lnTo>
                    <a:pt x="3457574" y="65057"/>
                  </a:lnTo>
                  <a:lnTo>
                    <a:pt x="3457574" y="2039967"/>
                  </a:lnTo>
                  <a:lnTo>
                    <a:pt x="3457574" y="2044239"/>
                  </a:lnTo>
                  <a:lnTo>
                    <a:pt x="3457157" y="2048469"/>
                  </a:lnTo>
                  <a:lnTo>
                    <a:pt x="3456323" y="2052659"/>
                  </a:lnTo>
                  <a:lnTo>
                    <a:pt x="3455489" y="2056848"/>
                  </a:lnTo>
                  <a:lnTo>
                    <a:pt x="3454256" y="2060916"/>
                  </a:lnTo>
                  <a:lnTo>
                    <a:pt x="3452620" y="2064863"/>
                  </a:lnTo>
                  <a:lnTo>
                    <a:pt x="3450985" y="2068810"/>
                  </a:lnTo>
                  <a:lnTo>
                    <a:pt x="3448982" y="2072559"/>
                  </a:lnTo>
                  <a:lnTo>
                    <a:pt x="3446609" y="2076110"/>
                  </a:lnTo>
                  <a:lnTo>
                    <a:pt x="3444236" y="2079662"/>
                  </a:lnTo>
                  <a:lnTo>
                    <a:pt x="3417412" y="2100071"/>
                  </a:lnTo>
                  <a:lnTo>
                    <a:pt x="3413465" y="2101706"/>
                  </a:lnTo>
                  <a:lnTo>
                    <a:pt x="3409398" y="2102940"/>
                  </a:lnTo>
                  <a:lnTo>
                    <a:pt x="3405209" y="2103773"/>
                  </a:lnTo>
                  <a:lnTo>
                    <a:pt x="3401020" y="2104607"/>
                  </a:lnTo>
                  <a:lnTo>
                    <a:pt x="3396788" y="2105024"/>
                  </a:lnTo>
                  <a:lnTo>
                    <a:pt x="3392518" y="2105024"/>
                  </a:lnTo>
                  <a:lnTo>
                    <a:pt x="65057" y="2105024"/>
                  </a:lnTo>
                  <a:lnTo>
                    <a:pt x="60784" y="2105024"/>
                  </a:lnTo>
                  <a:lnTo>
                    <a:pt x="56554" y="2104607"/>
                  </a:lnTo>
                  <a:lnTo>
                    <a:pt x="52364" y="2103774"/>
                  </a:lnTo>
                  <a:lnTo>
                    <a:pt x="48174" y="2102941"/>
                  </a:lnTo>
                  <a:lnTo>
                    <a:pt x="44105" y="2101706"/>
                  </a:lnTo>
                  <a:lnTo>
                    <a:pt x="40159" y="2100072"/>
                  </a:lnTo>
                  <a:lnTo>
                    <a:pt x="36212" y="2098437"/>
                  </a:lnTo>
                  <a:lnTo>
                    <a:pt x="19054" y="2085969"/>
                  </a:lnTo>
                  <a:lnTo>
                    <a:pt x="16033" y="2082948"/>
                  </a:lnTo>
                  <a:lnTo>
                    <a:pt x="0" y="2044239"/>
                  </a:lnTo>
                  <a:lnTo>
                    <a:pt x="0" y="2039967"/>
                  </a:lnTo>
                  <a:close/>
                </a:path>
              </a:pathLst>
            </a:custGeom>
            <a:ln w="9524">
              <a:solidFill>
                <a:srgbClr val="D5CC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224490" y="3016177"/>
            <a:ext cx="3067050" cy="13989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spc="6815" b="1">
                <a:latin typeface="Roboto Bk"/>
                <a:cs typeface="Roboto Bk"/>
              </a:rPr>
              <a:t>📅</a:t>
            </a:r>
            <a:r>
              <a:rPr dirty="0" sz="2150" spc="-75" b="1">
                <a:latin typeface="Roboto Bk"/>
                <a:cs typeface="Roboto Bk"/>
              </a:rPr>
              <a:t> </a:t>
            </a:r>
            <a:r>
              <a:rPr dirty="0" sz="1850" spc="-85">
                <a:solidFill>
                  <a:srgbClr val="2A3440"/>
                </a:solidFill>
                <a:latin typeface="Verdana"/>
                <a:cs typeface="Verdana"/>
              </a:rPr>
              <a:t>Time</a:t>
            </a:r>
            <a:r>
              <a:rPr dirty="0" sz="1850" spc="-245">
                <a:solidFill>
                  <a:srgbClr val="2A3440"/>
                </a:solidFill>
                <a:latin typeface="Verdana"/>
                <a:cs typeface="Verdana"/>
              </a:rPr>
              <a:t> </a:t>
            </a:r>
            <a:r>
              <a:rPr dirty="0" sz="1850" spc="-10">
                <a:solidFill>
                  <a:srgbClr val="2A3440"/>
                </a:solidFill>
                <a:latin typeface="Verdana"/>
                <a:cs typeface="Verdana"/>
              </a:rPr>
              <a:t>Period</a:t>
            </a:r>
            <a:endParaRPr sz="1850">
              <a:latin typeface="Verdana"/>
              <a:cs typeface="Verdana"/>
            </a:endParaRPr>
          </a:p>
          <a:p>
            <a:pPr marL="12700" marR="5080">
              <a:lnSpc>
                <a:spcPct val="135100"/>
              </a:lnSpc>
              <a:spcBef>
                <a:spcPts val="665"/>
              </a:spcBef>
            </a:pPr>
            <a:r>
              <a:rPr dirty="0" sz="1550" spc="-50">
                <a:solidFill>
                  <a:srgbClr val="2A3440"/>
                </a:solidFill>
                <a:latin typeface="Tahoma"/>
                <a:cs typeface="Tahoma"/>
              </a:rPr>
              <a:t>2008–</a:t>
            </a:r>
            <a:r>
              <a:rPr dirty="0" sz="1550" spc="-25">
                <a:solidFill>
                  <a:srgbClr val="2A3440"/>
                </a:solidFill>
                <a:latin typeface="Tahoma"/>
                <a:cs typeface="Tahoma"/>
              </a:rPr>
              <a:t>2013</a:t>
            </a:r>
            <a:r>
              <a:rPr dirty="0" sz="1550" spc="-9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historical</a:t>
            </a:r>
            <a:r>
              <a:rPr dirty="0" sz="1550" spc="-9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2A3440"/>
                </a:solidFill>
                <a:latin typeface="Tahoma"/>
                <a:cs typeface="Tahoma"/>
              </a:rPr>
              <a:t>data</a:t>
            </a:r>
            <a:r>
              <a:rPr dirty="0" sz="1550" spc="-9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providing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six</a:t>
            </a:r>
            <a:r>
              <a:rPr dirty="0" sz="1550" spc="-14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2A3440"/>
                </a:solidFill>
                <a:latin typeface="Tahoma"/>
                <a:cs typeface="Tahoma"/>
              </a:rPr>
              <a:t>years</a:t>
            </a:r>
            <a:r>
              <a:rPr dirty="0" sz="1550" spc="-13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of</a:t>
            </a:r>
            <a:r>
              <a:rPr dirty="0" sz="1550" spc="-14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airline</a:t>
            </a:r>
            <a:r>
              <a:rPr dirty="0" sz="1550" spc="-13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industry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performance</a:t>
            </a:r>
            <a:r>
              <a:rPr dirty="0" sz="1550" spc="-5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records.</a:t>
            </a:r>
            <a:endParaRPr sz="1550">
              <a:latin typeface="Tahoma"/>
              <a:cs typeface="Tahoma"/>
            </a:endParaRPr>
          </a:p>
        </p:txBody>
      </p:sp>
      <p:pic>
        <p:nvPicPr>
          <p:cNvPr id="15" name="object 15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5452" y="822928"/>
            <a:ext cx="5094605" cy="588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700" spc="-245"/>
              <a:t>Key</a:t>
            </a:r>
            <a:r>
              <a:rPr dirty="0" sz="3700" spc="-430"/>
              <a:t> </a:t>
            </a:r>
            <a:r>
              <a:rPr dirty="0" sz="3700" spc="-70"/>
              <a:t>Metrics</a:t>
            </a:r>
            <a:r>
              <a:rPr dirty="0" sz="3700" spc="-430"/>
              <a:t> </a:t>
            </a:r>
            <a:r>
              <a:rPr dirty="0" sz="3700" spc="-150"/>
              <a:t>at</a:t>
            </a:r>
            <a:r>
              <a:rPr dirty="0" sz="3700" spc="-425"/>
              <a:t> </a:t>
            </a:r>
            <a:r>
              <a:rPr dirty="0" sz="3700" spc="-140"/>
              <a:t>a</a:t>
            </a:r>
            <a:r>
              <a:rPr dirty="0" sz="3700" spc="-430"/>
              <a:t> </a:t>
            </a:r>
            <a:r>
              <a:rPr dirty="0" sz="3700" spc="-90"/>
              <a:t>Glance</a:t>
            </a:r>
            <a:endParaRPr sz="3700"/>
          </a:p>
        </p:txBody>
      </p:sp>
      <p:sp>
        <p:nvSpPr>
          <p:cNvPr id="3" name="object 3"/>
          <p:cNvSpPr txBox="1"/>
          <p:nvPr/>
        </p:nvSpPr>
        <p:spPr>
          <a:xfrm>
            <a:off x="901997" y="1824577"/>
            <a:ext cx="3028950" cy="2019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5150" spc="-25">
                <a:solidFill>
                  <a:srgbClr val="2A3440"/>
                </a:solidFill>
                <a:latin typeface="Verdana"/>
                <a:cs typeface="Verdana"/>
              </a:rPr>
              <a:t>3M</a:t>
            </a:r>
            <a:endParaRPr sz="51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545"/>
              </a:spcBef>
            </a:pPr>
            <a:r>
              <a:rPr dirty="0" sz="1850" spc="-114">
                <a:solidFill>
                  <a:srgbClr val="2A3440"/>
                </a:solidFill>
                <a:latin typeface="Verdana"/>
                <a:cs typeface="Verdana"/>
              </a:rPr>
              <a:t>Total</a:t>
            </a:r>
            <a:r>
              <a:rPr dirty="0" sz="1850" spc="-215">
                <a:solidFill>
                  <a:srgbClr val="2A3440"/>
                </a:solidFill>
                <a:latin typeface="Verdana"/>
                <a:cs typeface="Verdana"/>
              </a:rPr>
              <a:t> </a:t>
            </a:r>
            <a:r>
              <a:rPr dirty="0" sz="1850" spc="-10">
                <a:solidFill>
                  <a:srgbClr val="2A3440"/>
                </a:solidFill>
                <a:latin typeface="Verdana"/>
                <a:cs typeface="Verdana"/>
              </a:rPr>
              <a:t>Flights</a:t>
            </a:r>
            <a:endParaRPr sz="1850">
              <a:latin typeface="Verdana"/>
              <a:cs typeface="Verdana"/>
            </a:endParaRPr>
          </a:p>
          <a:p>
            <a:pPr algn="ctr" marL="12700" marR="5080">
              <a:lnSpc>
                <a:spcPct val="133100"/>
              </a:lnSpc>
              <a:spcBef>
                <a:spcPts val="765"/>
              </a:spcBef>
            </a:pP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Across</a:t>
            </a:r>
            <a:r>
              <a:rPr dirty="0" sz="1550" spc="-114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all</a:t>
            </a:r>
            <a:r>
              <a:rPr dirty="0" sz="1550" spc="-11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routes</a:t>
            </a:r>
            <a:r>
              <a:rPr dirty="0" sz="1550" spc="-11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and</a:t>
            </a:r>
            <a:r>
              <a:rPr dirty="0" sz="1550" spc="-11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carriers</a:t>
            </a:r>
            <a:r>
              <a:rPr dirty="0" sz="1550" spc="-11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in</a:t>
            </a:r>
            <a:r>
              <a:rPr dirty="0" sz="1550" spc="-114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25">
                <a:solidFill>
                  <a:srgbClr val="2A3440"/>
                </a:solidFill>
                <a:latin typeface="Tahoma"/>
                <a:cs typeface="Tahoma"/>
              </a:rPr>
              <a:t>the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dataset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38178" y="1824577"/>
            <a:ext cx="2919730" cy="2019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5150" spc="-20">
                <a:solidFill>
                  <a:srgbClr val="2A3440"/>
                </a:solidFill>
                <a:latin typeface="Verdana"/>
                <a:cs typeface="Verdana"/>
              </a:rPr>
              <a:t>187M</a:t>
            </a:r>
            <a:endParaRPr sz="51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545"/>
              </a:spcBef>
            </a:pPr>
            <a:r>
              <a:rPr dirty="0" sz="1850" spc="-114">
                <a:solidFill>
                  <a:srgbClr val="2A3440"/>
                </a:solidFill>
                <a:latin typeface="Verdana"/>
                <a:cs typeface="Verdana"/>
              </a:rPr>
              <a:t>Total</a:t>
            </a:r>
            <a:r>
              <a:rPr dirty="0" sz="1850" spc="-215">
                <a:solidFill>
                  <a:srgbClr val="2A3440"/>
                </a:solidFill>
                <a:latin typeface="Verdana"/>
                <a:cs typeface="Verdana"/>
              </a:rPr>
              <a:t> </a:t>
            </a:r>
            <a:r>
              <a:rPr dirty="0" sz="1850" spc="-10">
                <a:solidFill>
                  <a:srgbClr val="2A3440"/>
                </a:solidFill>
                <a:latin typeface="Verdana"/>
                <a:cs typeface="Verdana"/>
              </a:rPr>
              <a:t>Passengers</a:t>
            </a:r>
            <a:endParaRPr sz="1850">
              <a:latin typeface="Verdana"/>
              <a:cs typeface="Verdana"/>
            </a:endParaRPr>
          </a:p>
          <a:p>
            <a:pPr algn="ctr" marL="12700" marR="5080">
              <a:lnSpc>
                <a:spcPct val="133100"/>
              </a:lnSpc>
              <a:spcBef>
                <a:spcPts val="765"/>
              </a:spcBef>
            </a:pPr>
            <a:r>
              <a:rPr dirty="0" sz="1550" spc="-35">
                <a:solidFill>
                  <a:srgbClr val="2A3440"/>
                </a:solidFill>
                <a:latin typeface="Tahoma"/>
                <a:cs typeface="Tahoma"/>
              </a:rPr>
              <a:t>Travellers</a:t>
            </a:r>
            <a:r>
              <a:rPr dirty="0" sz="1550" spc="-13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served</a:t>
            </a:r>
            <a:r>
              <a:rPr dirty="0" sz="1550" spc="-13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over</a:t>
            </a:r>
            <a:r>
              <a:rPr dirty="0" sz="1550" spc="-13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the</a:t>
            </a:r>
            <a:r>
              <a:rPr dirty="0" sz="1550" spc="-13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analysis period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58708" y="1824577"/>
            <a:ext cx="3241675" cy="17049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5150" spc="-20">
                <a:solidFill>
                  <a:srgbClr val="2A3440"/>
                </a:solidFill>
                <a:latin typeface="Verdana"/>
                <a:cs typeface="Verdana"/>
              </a:rPr>
              <a:t>244M</a:t>
            </a:r>
            <a:endParaRPr sz="51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545"/>
              </a:spcBef>
            </a:pPr>
            <a:r>
              <a:rPr dirty="0" sz="1850" spc="-105">
                <a:solidFill>
                  <a:srgbClr val="2A3440"/>
                </a:solidFill>
                <a:latin typeface="Verdana"/>
                <a:cs typeface="Verdana"/>
              </a:rPr>
              <a:t>Available</a:t>
            </a:r>
            <a:r>
              <a:rPr dirty="0" sz="1850" spc="-210">
                <a:solidFill>
                  <a:srgbClr val="2A3440"/>
                </a:solidFill>
                <a:latin typeface="Verdana"/>
                <a:cs typeface="Verdana"/>
              </a:rPr>
              <a:t> </a:t>
            </a:r>
            <a:r>
              <a:rPr dirty="0" sz="1850" spc="-10">
                <a:solidFill>
                  <a:srgbClr val="2A3440"/>
                </a:solidFill>
                <a:latin typeface="Verdana"/>
                <a:cs typeface="Verdana"/>
              </a:rPr>
              <a:t>Seats</a:t>
            </a:r>
            <a:endParaRPr sz="18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380"/>
              </a:spcBef>
            </a:pP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Seat</a:t>
            </a:r>
            <a:r>
              <a:rPr dirty="0" sz="1550" spc="-12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capacity</a:t>
            </a:r>
            <a:r>
              <a:rPr dirty="0" sz="1550" spc="-12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offered</a:t>
            </a:r>
            <a:r>
              <a:rPr dirty="0" sz="1550" spc="-12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across</a:t>
            </a:r>
            <a:r>
              <a:rPr dirty="0" sz="1550" spc="-12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all</a:t>
            </a:r>
            <a:r>
              <a:rPr dirty="0" sz="1550" spc="-12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flights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60699" y="4282027"/>
            <a:ext cx="3192780" cy="17049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5150" spc="-615">
                <a:solidFill>
                  <a:srgbClr val="2A3440"/>
                </a:solidFill>
                <a:latin typeface="Verdana"/>
                <a:cs typeface="Verdana"/>
              </a:rPr>
              <a:t>77%</a:t>
            </a:r>
            <a:endParaRPr sz="51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545"/>
              </a:spcBef>
            </a:pPr>
            <a:r>
              <a:rPr dirty="0" sz="1850" spc="-65">
                <a:solidFill>
                  <a:srgbClr val="2A3440"/>
                </a:solidFill>
                <a:latin typeface="Verdana"/>
                <a:cs typeface="Verdana"/>
              </a:rPr>
              <a:t>Load</a:t>
            </a:r>
            <a:r>
              <a:rPr dirty="0" sz="1850" spc="-229">
                <a:solidFill>
                  <a:srgbClr val="2A3440"/>
                </a:solidFill>
                <a:latin typeface="Verdana"/>
                <a:cs typeface="Verdana"/>
              </a:rPr>
              <a:t> </a:t>
            </a:r>
            <a:r>
              <a:rPr dirty="0" sz="1850" spc="-10">
                <a:solidFill>
                  <a:srgbClr val="2A3440"/>
                </a:solidFill>
                <a:latin typeface="Verdana"/>
                <a:cs typeface="Verdana"/>
              </a:rPr>
              <a:t>Factor</a:t>
            </a:r>
            <a:endParaRPr sz="18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380"/>
              </a:spcBef>
            </a:pPr>
            <a:r>
              <a:rPr dirty="0" sz="1550" spc="-25">
                <a:solidFill>
                  <a:srgbClr val="2A3440"/>
                </a:solidFill>
                <a:latin typeface="Tahoma"/>
                <a:cs typeface="Tahoma"/>
              </a:rPr>
              <a:t>Average</a:t>
            </a:r>
            <a:r>
              <a:rPr dirty="0" sz="1550" spc="-14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seat</a:t>
            </a:r>
            <a:r>
              <a:rPr dirty="0" sz="1550" spc="-14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utilization</a:t>
            </a:r>
            <a:r>
              <a:rPr dirty="0" sz="1550" spc="-14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rate</a:t>
            </a:r>
            <a:r>
              <a:rPr dirty="0" sz="1550" spc="-14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achieved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53707" y="4282027"/>
            <a:ext cx="3370579" cy="17049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5150" spc="-25">
                <a:solidFill>
                  <a:srgbClr val="2A3440"/>
                </a:solidFill>
                <a:latin typeface="Verdana"/>
                <a:cs typeface="Verdana"/>
              </a:rPr>
              <a:t>82M</a:t>
            </a:r>
            <a:endParaRPr sz="51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545"/>
              </a:spcBef>
            </a:pPr>
            <a:r>
              <a:rPr dirty="0" sz="1850" spc="-65">
                <a:solidFill>
                  <a:srgbClr val="2A3440"/>
                </a:solidFill>
                <a:latin typeface="Verdana"/>
                <a:cs typeface="Verdana"/>
              </a:rPr>
              <a:t>Miles</a:t>
            </a:r>
            <a:r>
              <a:rPr dirty="0" sz="1850" spc="-225">
                <a:solidFill>
                  <a:srgbClr val="2A3440"/>
                </a:solidFill>
                <a:latin typeface="Verdana"/>
                <a:cs typeface="Verdana"/>
              </a:rPr>
              <a:t> </a:t>
            </a:r>
            <a:r>
              <a:rPr dirty="0" sz="1850" spc="-10">
                <a:solidFill>
                  <a:srgbClr val="2A3440"/>
                </a:solidFill>
                <a:latin typeface="Verdana"/>
                <a:cs typeface="Verdana"/>
              </a:rPr>
              <a:t>Flown</a:t>
            </a:r>
            <a:endParaRPr sz="18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380"/>
              </a:spcBef>
            </a:pPr>
            <a:r>
              <a:rPr dirty="0" sz="1550" spc="-40">
                <a:solidFill>
                  <a:srgbClr val="2A3440"/>
                </a:solidFill>
                <a:latin typeface="Tahoma"/>
                <a:cs typeface="Tahoma"/>
              </a:rPr>
              <a:t>Total</a:t>
            </a:r>
            <a:r>
              <a:rPr dirty="0" sz="1550" spc="-11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distance</a:t>
            </a:r>
            <a:r>
              <a:rPr dirty="0" sz="1550" spc="-10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covered</a:t>
            </a:r>
            <a:r>
              <a:rPr dirty="0" sz="1550" spc="-10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across</a:t>
            </a:r>
            <a:r>
              <a:rPr dirty="0" sz="1550" spc="-10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all</a:t>
            </a:r>
            <a:r>
              <a:rPr dirty="0" sz="1550" spc="-10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routes</a:t>
            </a:r>
            <a:endParaRPr sz="1550">
              <a:latin typeface="Tahoma"/>
              <a:cs typeface="Tahoma"/>
            </a:endParaRPr>
          </a:p>
        </p:txBody>
      </p:sp>
      <p:pic>
        <p:nvPicPr>
          <p:cNvPr id="8" name="object 8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3450" spc="-125"/>
              <a:t>Flight</a:t>
            </a:r>
            <a:r>
              <a:rPr dirty="0" sz="3450" spc="-375"/>
              <a:t> </a:t>
            </a:r>
            <a:r>
              <a:rPr dirty="0" sz="3450" spc="-155"/>
              <a:t>Volume</a:t>
            </a:r>
            <a:r>
              <a:rPr dirty="0" sz="3450" spc="-370"/>
              <a:t> </a:t>
            </a:r>
            <a:r>
              <a:rPr dirty="0" sz="3450" spc="-85"/>
              <a:t>Trends</a:t>
            </a:r>
            <a:endParaRPr sz="34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424" y="2495549"/>
            <a:ext cx="66675" cy="666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424" y="3133724"/>
            <a:ext cx="66675" cy="666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424" y="3781424"/>
            <a:ext cx="66675" cy="6667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695324" y="4438649"/>
            <a:ext cx="3486150" cy="1276350"/>
            <a:chOff x="695324" y="4438649"/>
            <a:chExt cx="3486150" cy="1276350"/>
          </a:xfrm>
        </p:grpSpPr>
        <p:sp>
          <p:nvSpPr>
            <p:cNvPr id="7" name="object 7"/>
            <p:cNvSpPr/>
            <p:nvPr/>
          </p:nvSpPr>
          <p:spPr>
            <a:xfrm>
              <a:off x="695324" y="4438649"/>
              <a:ext cx="3486150" cy="1276350"/>
            </a:xfrm>
            <a:custGeom>
              <a:avLst/>
              <a:gdLst/>
              <a:ahLst/>
              <a:cxnLst/>
              <a:rect l="l" t="t" r="r" b="b"/>
              <a:pathLst>
                <a:path w="3486150" h="1276350">
                  <a:moveTo>
                    <a:pt x="3424991" y="1276349"/>
                  </a:moveTo>
                  <a:lnTo>
                    <a:pt x="61157" y="1276349"/>
                  </a:lnTo>
                  <a:lnTo>
                    <a:pt x="56901" y="1275930"/>
                  </a:lnTo>
                  <a:lnTo>
                    <a:pt x="16132" y="1254138"/>
                  </a:lnTo>
                  <a:lnTo>
                    <a:pt x="0" y="1215191"/>
                  </a:lnTo>
                  <a:lnTo>
                    <a:pt x="0" y="1210894"/>
                  </a:lnTo>
                  <a:lnTo>
                    <a:pt x="0" y="61157"/>
                  </a:lnTo>
                  <a:lnTo>
                    <a:pt x="16132" y="22210"/>
                  </a:lnTo>
                  <a:lnTo>
                    <a:pt x="56901" y="419"/>
                  </a:lnTo>
                  <a:lnTo>
                    <a:pt x="61157" y="0"/>
                  </a:lnTo>
                  <a:lnTo>
                    <a:pt x="3424991" y="0"/>
                  </a:lnTo>
                  <a:lnTo>
                    <a:pt x="3463938" y="16131"/>
                  </a:lnTo>
                  <a:lnTo>
                    <a:pt x="3485730" y="56900"/>
                  </a:lnTo>
                  <a:lnTo>
                    <a:pt x="3486149" y="61157"/>
                  </a:lnTo>
                  <a:lnTo>
                    <a:pt x="3486149" y="1215191"/>
                  </a:lnTo>
                  <a:lnTo>
                    <a:pt x="3470017" y="1254138"/>
                  </a:lnTo>
                  <a:lnTo>
                    <a:pt x="3429248" y="1275930"/>
                  </a:lnTo>
                  <a:lnTo>
                    <a:pt x="3424991" y="1276349"/>
                  </a:lnTo>
                  <a:close/>
                </a:path>
              </a:pathLst>
            </a:custGeom>
            <a:solidFill>
              <a:srgbClr val="D8E7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0873" y="4717032"/>
              <a:ext cx="163562" cy="16356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85452" y="1910492"/>
            <a:ext cx="3387725" cy="35693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105">
                <a:solidFill>
                  <a:srgbClr val="041C3A"/>
                </a:solidFill>
                <a:latin typeface="Verdana"/>
                <a:cs typeface="Verdana"/>
              </a:rPr>
              <a:t>Key</a:t>
            </a:r>
            <a:r>
              <a:rPr dirty="0" sz="1700" spc="-220">
                <a:solidFill>
                  <a:srgbClr val="041C3A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041C3A"/>
                </a:solidFill>
                <a:latin typeface="Verdana"/>
                <a:cs typeface="Verdana"/>
              </a:rPr>
              <a:t>Findings</a:t>
            </a:r>
            <a:endParaRPr sz="1700">
              <a:latin typeface="Verdana"/>
              <a:cs typeface="Verdana"/>
            </a:endParaRPr>
          </a:p>
          <a:p>
            <a:pPr marL="311150" marR="581025">
              <a:lnSpc>
                <a:spcPct val="129299"/>
              </a:lnSpc>
              <a:spcBef>
                <a:spcPts val="1225"/>
              </a:spcBef>
            </a:pPr>
            <a:r>
              <a:rPr dirty="0" sz="1450">
                <a:solidFill>
                  <a:srgbClr val="2A3440"/>
                </a:solidFill>
                <a:latin typeface="Tahoma"/>
                <a:cs typeface="Tahoma"/>
              </a:rPr>
              <a:t>3</a:t>
            </a:r>
            <a:r>
              <a:rPr dirty="0" sz="1450" spc="-12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2A3440"/>
                </a:solidFill>
                <a:latin typeface="Tahoma"/>
                <a:cs typeface="Tahoma"/>
              </a:rPr>
              <a:t>million</a:t>
            </a:r>
            <a:r>
              <a:rPr dirty="0" sz="1450" spc="-114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2A3440"/>
                </a:solidFill>
                <a:latin typeface="Tahoma"/>
                <a:cs typeface="Tahoma"/>
              </a:rPr>
              <a:t>total</a:t>
            </a:r>
            <a:r>
              <a:rPr dirty="0" sz="1450" spc="-114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2A3440"/>
                </a:solidFill>
                <a:latin typeface="Tahoma"/>
                <a:cs typeface="Tahoma"/>
              </a:rPr>
              <a:t>flights</a:t>
            </a:r>
            <a:r>
              <a:rPr dirty="0" sz="1450" spc="-114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2A3440"/>
                </a:solidFill>
                <a:latin typeface="Tahoma"/>
                <a:cs typeface="Tahoma"/>
              </a:rPr>
              <a:t>across</a:t>
            </a:r>
            <a:r>
              <a:rPr dirty="0" sz="1450" spc="-12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450" spc="-25">
                <a:solidFill>
                  <a:srgbClr val="2A3440"/>
                </a:solidFill>
                <a:latin typeface="Tahoma"/>
                <a:cs typeface="Tahoma"/>
              </a:rPr>
              <a:t>the </a:t>
            </a:r>
            <a:r>
              <a:rPr dirty="0" sz="1450">
                <a:solidFill>
                  <a:srgbClr val="2A3440"/>
                </a:solidFill>
                <a:latin typeface="Tahoma"/>
                <a:cs typeface="Tahoma"/>
              </a:rPr>
              <a:t>complete</a:t>
            </a:r>
            <a:r>
              <a:rPr dirty="0" sz="1450" spc="-2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2A3440"/>
                </a:solidFill>
                <a:latin typeface="Tahoma"/>
                <a:cs typeface="Tahoma"/>
              </a:rPr>
              <a:t>dataset</a:t>
            </a:r>
            <a:endParaRPr sz="1450">
              <a:latin typeface="Tahoma"/>
              <a:cs typeface="Tahoma"/>
            </a:endParaRPr>
          </a:p>
          <a:p>
            <a:pPr marL="311150" marR="216535">
              <a:lnSpc>
                <a:spcPct val="133600"/>
              </a:lnSpc>
              <a:spcBef>
                <a:spcPts val="450"/>
              </a:spcBef>
            </a:pPr>
            <a:r>
              <a:rPr dirty="0" sz="1450">
                <a:solidFill>
                  <a:srgbClr val="2A3440"/>
                </a:solidFill>
                <a:latin typeface="Tahoma"/>
                <a:cs typeface="Tahoma"/>
              </a:rPr>
              <a:t>Consistent</a:t>
            </a:r>
            <a:r>
              <a:rPr dirty="0" sz="1450" spc="-6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450" spc="-45">
                <a:solidFill>
                  <a:srgbClr val="2A3440"/>
                </a:solidFill>
                <a:latin typeface="Tahoma"/>
                <a:cs typeface="Tahoma"/>
              </a:rPr>
              <a:t>year-</a:t>
            </a:r>
            <a:r>
              <a:rPr dirty="0" sz="1450" spc="-50">
                <a:solidFill>
                  <a:srgbClr val="2A3440"/>
                </a:solidFill>
                <a:latin typeface="Tahoma"/>
                <a:cs typeface="Tahoma"/>
              </a:rPr>
              <a:t>over-</a:t>
            </a:r>
            <a:r>
              <a:rPr dirty="0" sz="1450" spc="-20">
                <a:solidFill>
                  <a:srgbClr val="2A3440"/>
                </a:solidFill>
                <a:latin typeface="Tahoma"/>
                <a:cs typeface="Tahoma"/>
              </a:rPr>
              <a:t>year</a:t>
            </a:r>
            <a:r>
              <a:rPr dirty="0" sz="1450" spc="-6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2A3440"/>
                </a:solidFill>
                <a:latin typeface="Tahoma"/>
                <a:cs typeface="Tahoma"/>
              </a:rPr>
              <a:t>growth</a:t>
            </a:r>
            <a:r>
              <a:rPr dirty="0" sz="1450" spc="-6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450" spc="-25">
                <a:solidFill>
                  <a:srgbClr val="2A3440"/>
                </a:solidFill>
                <a:latin typeface="Tahoma"/>
                <a:cs typeface="Tahoma"/>
              </a:rPr>
              <a:t>in </a:t>
            </a:r>
            <a:r>
              <a:rPr dirty="0" sz="1450" spc="-10">
                <a:solidFill>
                  <a:srgbClr val="2A3440"/>
                </a:solidFill>
                <a:latin typeface="Tahoma"/>
                <a:cs typeface="Tahoma"/>
              </a:rPr>
              <a:t>flight</a:t>
            </a:r>
            <a:r>
              <a:rPr dirty="0" sz="1450" spc="-9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2A3440"/>
                </a:solidFill>
                <a:latin typeface="Tahoma"/>
                <a:cs typeface="Tahoma"/>
              </a:rPr>
              <a:t>operations</a:t>
            </a:r>
            <a:endParaRPr sz="1450">
              <a:latin typeface="Tahoma"/>
              <a:cs typeface="Tahoma"/>
            </a:endParaRPr>
          </a:p>
          <a:p>
            <a:pPr marL="311150" marR="5080">
              <a:lnSpc>
                <a:spcPct val="129299"/>
              </a:lnSpc>
              <a:spcBef>
                <a:spcPts val="525"/>
              </a:spcBef>
            </a:pPr>
            <a:r>
              <a:rPr dirty="0" sz="1450">
                <a:solidFill>
                  <a:srgbClr val="2A3440"/>
                </a:solidFill>
                <a:latin typeface="Tahoma"/>
                <a:cs typeface="Tahoma"/>
              </a:rPr>
              <a:t>Peak</a:t>
            </a:r>
            <a:r>
              <a:rPr dirty="0" sz="1450" spc="-8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2A3440"/>
                </a:solidFill>
                <a:latin typeface="Tahoma"/>
                <a:cs typeface="Tahoma"/>
              </a:rPr>
              <a:t>performance</a:t>
            </a:r>
            <a:r>
              <a:rPr dirty="0" sz="1450" spc="-7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2A3440"/>
                </a:solidFill>
                <a:latin typeface="Tahoma"/>
                <a:cs typeface="Tahoma"/>
              </a:rPr>
              <a:t>concentrated</a:t>
            </a:r>
            <a:r>
              <a:rPr dirty="0" sz="1450" spc="-7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2A3440"/>
                </a:solidFill>
                <a:latin typeface="Tahoma"/>
                <a:cs typeface="Tahoma"/>
              </a:rPr>
              <a:t>in</a:t>
            </a:r>
            <a:r>
              <a:rPr dirty="0" sz="1450" spc="-7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450" spc="-25">
                <a:solidFill>
                  <a:srgbClr val="2A3440"/>
                </a:solidFill>
                <a:latin typeface="Tahoma"/>
                <a:cs typeface="Tahoma"/>
              </a:rPr>
              <a:t>Q3 </a:t>
            </a:r>
            <a:r>
              <a:rPr dirty="0" sz="1450">
                <a:solidFill>
                  <a:srgbClr val="2A3440"/>
                </a:solidFill>
                <a:latin typeface="Tahoma"/>
                <a:cs typeface="Tahoma"/>
              </a:rPr>
              <a:t>and</a:t>
            </a:r>
            <a:r>
              <a:rPr dirty="0" sz="1450" spc="-13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450">
                <a:solidFill>
                  <a:srgbClr val="2A3440"/>
                </a:solidFill>
                <a:latin typeface="Tahoma"/>
                <a:cs typeface="Tahoma"/>
              </a:rPr>
              <a:t>Q4</a:t>
            </a:r>
            <a:r>
              <a:rPr dirty="0" sz="1450" spc="-12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450" spc="-10">
                <a:solidFill>
                  <a:srgbClr val="2A3440"/>
                </a:solidFill>
                <a:latin typeface="Tahoma"/>
                <a:cs typeface="Tahoma"/>
              </a:rPr>
              <a:t>quarters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75"/>
              </a:spcBef>
            </a:pPr>
            <a:endParaRPr sz="1450">
              <a:latin typeface="Tahoma"/>
              <a:cs typeface="Tahoma"/>
            </a:endParaRPr>
          </a:p>
          <a:p>
            <a:pPr marL="619760" marR="260985">
              <a:lnSpc>
                <a:spcPct val="129299"/>
              </a:lnSpc>
            </a:pPr>
            <a:r>
              <a:rPr dirty="0" sz="1450">
                <a:latin typeface="Tahoma"/>
                <a:cs typeface="Tahoma"/>
              </a:rPr>
              <a:t>Power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BI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dashboard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below </a:t>
            </a:r>
            <a:r>
              <a:rPr dirty="0" sz="1450" spc="-10">
                <a:latin typeface="Tahoma"/>
                <a:cs typeface="Tahoma"/>
              </a:rPr>
              <a:t>illustrates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actual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flight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volume </a:t>
            </a:r>
            <a:r>
              <a:rPr dirty="0" sz="1450">
                <a:latin typeface="Tahoma"/>
                <a:cs typeface="Tahoma"/>
              </a:rPr>
              <a:t>trends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and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450">
                <a:latin typeface="Tahoma"/>
                <a:cs typeface="Tahoma"/>
              </a:rPr>
              <a:t>carrier</a:t>
            </a:r>
            <a:r>
              <a:rPr dirty="0" sz="1450" spc="-105">
                <a:latin typeface="Tahoma"/>
                <a:cs typeface="Tahoma"/>
              </a:rPr>
              <a:t> </a:t>
            </a:r>
            <a:r>
              <a:rPr dirty="0" sz="1450" spc="-10">
                <a:latin typeface="Tahoma"/>
                <a:cs typeface="Tahoma"/>
              </a:rPr>
              <a:t>breakdowns.</a:t>
            </a:r>
            <a:endParaRPr sz="145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53000" y="1590675"/>
            <a:ext cx="6238874" cy="4495799"/>
          </a:xfrm>
          <a:prstGeom prst="rect">
            <a:avLst/>
          </a:prstGeom>
        </p:spPr>
      </p:pic>
      <p:pic>
        <p:nvPicPr>
          <p:cNvPr id="11" name="object 11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750" spc="-114"/>
              <a:t>Excel</a:t>
            </a:r>
            <a:r>
              <a:rPr dirty="0" sz="2750" spc="-235"/>
              <a:t> </a:t>
            </a:r>
            <a:r>
              <a:rPr dirty="0" sz="2750" spc="-135"/>
              <a:t>Dashboard-</a:t>
            </a:r>
            <a:r>
              <a:rPr dirty="0" sz="2750" spc="-75"/>
              <a:t>Overview</a:t>
            </a:r>
            <a:endParaRPr sz="27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24" y="1257300"/>
            <a:ext cx="8096249" cy="4000499"/>
          </a:xfrm>
          <a:prstGeom prst="rect">
            <a:avLst/>
          </a:prstGeom>
        </p:spPr>
      </p:pic>
      <p:pic>
        <p:nvPicPr>
          <p:cNvPr id="4" name="object 4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685452" y="541655"/>
            <a:ext cx="5426075" cy="492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050" spc="-130">
                <a:solidFill>
                  <a:srgbClr val="041C3A"/>
                </a:solidFill>
                <a:latin typeface="Verdana"/>
                <a:cs typeface="Verdana"/>
              </a:rPr>
              <a:t>Top</a:t>
            </a:r>
            <a:r>
              <a:rPr dirty="0" sz="3050" spc="-345">
                <a:solidFill>
                  <a:srgbClr val="041C3A"/>
                </a:solidFill>
                <a:latin typeface="Verdana"/>
                <a:cs typeface="Verdana"/>
              </a:rPr>
              <a:t> </a:t>
            </a:r>
            <a:r>
              <a:rPr dirty="0" sz="3050" spc="-215">
                <a:solidFill>
                  <a:srgbClr val="041C3A"/>
                </a:solidFill>
                <a:latin typeface="Verdana"/>
                <a:cs typeface="Verdana"/>
              </a:rPr>
              <a:t>10</a:t>
            </a:r>
            <a:r>
              <a:rPr dirty="0" sz="3050" spc="-340">
                <a:solidFill>
                  <a:srgbClr val="041C3A"/>
                </a:solidFill>
                <a:latin typeface="Verdana"/>
                <a:cs typeface="Verdana"/>
              </a:rPr>
              <a:t> </a:t>
            </a:r>
            <a:r>
              <a:rPr dirty="0" sz="3050" spc="-85">
                <a:solidFill>
                  <a:srgbClr val="041C3A"/>
                </a:solidFill>
                <a:latin typeface="Verdana"/>
                <a:cs typeface="Verdana"/>
              </a:rPr>
              <a:t>Routes</a:t>
            </a:r>
            <a:r>
              <a:rPr dirty="0" sz="3050" spc="-340">
                <a:solidFill>
                  <a:srgbClr val="041C3A"/>
                </a:solidFill>
                <a:latin typeface="Verdana"/>
                <a:cs typeface="Verdana"/>
              </a:rPr>
              <a:t> </a:t>
            </a:r>
            <a:r>
              <a:rPr dirty="0" sz="3050" spc="-130">
                <a:solidFill>
                  <a:srgbClr val="041C3A"/>
                </a:solidFill>
                <a:latin typeface="Verdana"/>
                <a:cs typeface="Verdana"/>
              </a:rPr>
              <a:t>by</a:t>
            </a:r>
            <a:r>
              <a:rPr dirty="0" sz="3050" spc="-340">
                <a:solidFill>
                  <a:srgbClr val="041C3A"/>
                </a:solidFill>
                <a:latin typeface="Verdana"/>
                <a:cs typeface="Verdana"/>
              </a:rPr>
              <a:t> </a:t>
            </a:r>
            <a:r>
              <a:rPr dirty="0" sz="3050" spc="-105">
                <a:solidFill>
                  <a:srgbClr val="041C3A"/>
                </a:solidFill>
                <a:latin typeface="Verdana"/>
                <a:cs typeface="Verdana"/>
              </a:rPr>
              <a:t>Flight</a:t>
            </a:r>
            <a:r>
              <a:rPr dirty="0" sz="3050" spc="-345">
                <a:solidFill>
                  <a:srgbClr val="041C3A"/>
                </a:solidFill>
                <a:latin typeface="Verdana"/>
                <a:cs typeface="Verdana"/>
              </a:rPr>
              <a:t> </a:t>
            </a:r>
            <a:r>
              <a:rPr dirty="0" sz="3050" spc="-10">
                <a:solidFill>
                  <a:srgbClr val="041C3A"/>
                </a:solidFill>
                <a:latin typeface="Verdana"/>
                <a:cs typeface="Verdana"/>
              </a:rPr>
              <a:t>Count</a:t>
            </a:r>
            <a:endParaRPr sz="305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95324" y="1247774"/>
            <a:ext cx="10801350" cy="933450"/>
            <a:chOff x="695324" y="1247774"/>
            <a:chExt cx="10801350" cy="933450"/>
          </a:xfrm>
        </p:grpSpPr>
        <p:sp>
          <p:nvSpPr>
            <p:cNvPr id="4" name="object 4"/>
            <p:cNvSpPr/>
            <p:nvPr/>
          </p:nvSpPr>
          <p:spPr>
            <a:xfrm>
              <a:off x="704849" y="1257299"/>
              <a:ext cx="10782300" cy="914400"/>
            </a:xfrm>
            <a:custGeom>
              <a:avLst/>
              <a:gdLst/>
              <a:ahLst/>
              <a:cxnLst/>
              <a:rect l="l" t="t" r="r" b="b"/>
              <a:pathLst>
                <a:path w="10782300" h="914400">
                  <a:moveTo>
                    <a:pt x="10740407" y="914399"/>
                  </a:moveTo>
                  <a:lnTo>
                    <a:pt x="62297" y="914399"/>
                  </a:lnTo>
                  <a:lnTo>
                    <a:pt x="57961" y="913972"/>
                  </a:lnTo>
                  <a:lnTo>
                    <a:pt x="22624" y="897966"/>
                  </a:lnTo>
                  <a:lnTo>
                    <a:pt x="2135" y="865026"/>
                  </a:lnTo>
                  <a:lnTo>
                    <a:pt x="0" y="852102"/>
                  </a:lnTo>
                  <a:lnTo>
                    <a:pt x="0" y="847724"/>
                  </a:lnTo>
                  <a:lnTo>
                    <a:pt x="0" y="62296"/>
                  </a:lnTo>
                  <a:lnTo>
                    <a:pt x="13669" y="25992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10740407" y="0"/>
                  </a:lnTo>
                  <a:lnTo>
                    <a:pt x="10776169" y="23896"/>
                  </a:lnTo>
                  <a:lnTo>
                    <a:pt x="10782298" y="41889"/>
                  </a:lnTo>
                  <a:lnTo>
                    <a:pt x="10782298" y="872509"/>
                  </a:lnTo>
                  <a:lnTo>
                    <a:pt x="10758400" y="908272"/>
                  </a:lnTo>
                  <a:lnTo>
                    <a:pt x="10746567" y="913174"/>
                  </a:lnTo>
                  <a:lnTo>
                    <a:pt x="10740407" y="914399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04849" y="1257299"/>
              <a:ext cx="10782300" cy="914400"/>
            </a:xfrm>
            <a:custGeom>
              <a:avLst/>
              <a:gdLst/>
              <a:ahLst/>
              <a:cxnLst/>
              <a:rect l="l" t="t" r="r" b="b"/>
              <a:pathLst>
                <a:path w="10782300" h="914400">
                  <a:moveTo>
                    <a:pt x="0" y="84772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1" y="53667"/>
                  </a:lnTo>
                  <a:lnTo>
                    <a:pt x="2135" y="49373"/>
                  </a:lnTo>
                  <a:lnTo>
                    <a:pt x="3399" y="45204"/>
                  </a:lnTo>
                  <a:lnTo>
                    <a:pt x="25992" y="13668"/>
                  </a:lnTo>
                  <a:lnTo>
                    <a:pt x="41159" y="5075"/>
                  </a:lnTo>
                  <a:lnTo>
                    <a:pt x="45204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10734004" y="0"/>
                  </a:lnTo>
                  <a:lnTo>
                    <a:pt x="10740407" y="0"/>
                  </a:lnTo>
                  <a:lnTo>
                    <a:pt x="10746567" y="1225"/>
                  </a:lnTo>
                  <a:lnTo>
                    <a:pt x="10752483" y="3676"/>
                  </a:lnTo>
                  <a:lnTo>
                    <a:pt x="10758400" y="6126"/>
                  </a:lnTo>
                  <a:lnTo>
                    <a:pt x="10782298" y="41889"/>
                  </a:lnTo>
                  <a:lnTo>
                    <a:pt x="10782299" y="48294"/>
                  </a:lnTo>
                  <a:lnTo>
                    <a:pt x="10782299" y="866105"/>
                  </a:lnTo>
                  <a:lnTo>
                    <a:pt x="10763624" y="904783"/>
                  </a:lnTo>
                  <a:lnTo>
                    <a:pt x="10752483" y="910723"/>
                  </a:lnTo>
                  <a:lnTo>
                    <a:pt x="10746567" y="913174"/>
                  </a:lnTo>
                  <a:lnTo>
                    <a:pt x="10740407" y="914399"/>
                  </a:lnTo>
                  <a:lnTo>
                    <a:pt x="10734004" y="914399"/>
                  </a:lnTo>
                  <a:lnTo>
                    <a:pt x="66675" y="914399"/>
                  </a:lnTo>
                  <a:lnTo>
                    <a:pt x="29632" y="903162"/>
                  </a:lnTo>
                  <a:lnTo>
                    <a:pt x="25992" y="900730"/>
                  </a:lnTo>
                  <a:lnTo>
                    <a:pt x="3399" y="869195"/>
                  </a:lnTo>
                  <a:lnTo>
                    <a:pt x="1281" y="860732"/>
                  </a:lnTo>
                  <a:lnTo>
                    <a:pt x="427" y="856438"/>
                  </a:lnTo>
                  <a:lnTo>
                    <a:pt x="0" y="852102"/>
                  </a:lnTo>
                  <a:lnTo>
                    <a:pt x="0" y="847724"/>
                  </a:lnTo>
                  <a:close/>
                </a:path>
              </a:pathLst>
            </a:custGeom>
            <a:ln w="19049">
              <a:solidFill>
                <a:srgbClr val="D5CC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695324" y="1247774"/>
            <a:ext cx="76200" cy="933450"/>
          </a:xfrm>
          <a:custGeom>
            <a:avLst/>
            <a:gdLst/>
            <a:ahLst/>
            <a:cxnLst/>
            <a:rect l="l" t="t" r="r" b="b"/>
            <a:pathLst>
              <a:path w="76200" h="933450">
                <a:moveTo>
                  <a:pt x="76200" y="933449"/>
                </a:moveTo>
                <a:lnTo>
                  <a:pt x="32185" y="927595"/>
                </a:lnTo>
                <a:lnTo>
                  <a:pt x="2948" y="894249"/>
                </a:lnTo>
                <a:lnTo>
                  <a:pt x="0" y="879427"/>
                </a:lnTo>
                <a:lnTo>
                  <a:pt x="0" y="875630"/>
                </a:lnTo>
                <a:lnTo>
                  <a:pt x="0" y="54022"/>
                </a:lnTo>
                <a:lnTo>
                  <a:pt x="19619" y="14250"/>
                </a:lnTo>
                <a:lnTo>
                  <a:pt x="54022" y="0"/>
                </a:lnTo>
                <a:lnTo>
                  <a:pt x="76200" y="0"/>
                </a:lnTo>
                <a:lnTo>
                  <a:pt x="76200" y="933449"/>
                </a:lnTo>
                <a:close/>
              </a:path>
            </a:pathLst>
          </a:custGeom>
          <a:solidFill>
            <a:srgbClr val="3370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45753" y="1282475"/>
            <a:ext cx="7375525" cy="697230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1500" spc="-50">
                <a:solidFill>
                  <a:srgbClr val="2A3440"/>
                </a:solidFill>
                <a:latin typeface="Verdana"/>
                <a:cs typeface="Verdana"/>
              </a:rPr>
              <a:t>Major</a:t>
            </a:r>
            <a:r>
              <a:rPr dirty="0" sz="1500" spc="-175">
                <a:solidFill>
                  <a:srgbClr val="2A3440"/>
                </a:solidFill>
                <a:latin typeface="Verdana"/>
                <a:cs typeface="Verdana"/>
              </a:rPr>
              <a:t> </a:t>
            </a:r>
            <a:r>
              <a:rPr dirty="0" sz="1500" spc="-20">
                <a:solidFill>
                  <a:srgbClr val="2A3440"/>
                </a:solidFill>
                <a:latin typeface="Verdana"/>
                <a:cs typeface="Verdana"/>
              </a:rPr>
              <a:t>Hub</a:t>
            </a:r>
            <a:r>
              <a:rPr dirty="0" sz="1500" spc="-170">
                <a:solidFill>
                  <a:srgbClr val="2A3440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2A3440"/>
                </a:solidFill>
                <a:latin typeface="Verdana"/>
                <a:cs typeface="Verdana"/>
              </a:rPr>
              <a:t>Activity</a:t>
            </a:r>
            <a:endParaRPr sz="1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300" spc="-40">
                <a:solidFill>
                  <a:srgbClr val="2A3440"/>
                </a:solidFill>
                <a:latin typeface="Tahoma"/>
                <a:cs typeface="Tahoma"/>
              </a:rPr>
              <a:t>Atlanta,</a:t>
            </a:r>
            <a:r>
              <a:rPr dirty="0" sz="1300" spc="-10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00" spc="-40">
                <a:solidFill>
                  <a:srgbClr val="2A3440"/>
                </a:solidFill>
                <a:latin typeface="Tahoma"/>
                <a:cs typeface="Tahoma"/>
              </a:rPr>
              <a:t>Dallas,</a:t>
            </a:r>
            <a:r>
              <a:rPr dirty="0" sz="1300" spc="-10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2A3440"/>
                </a:solidFill>
                <a:latin typeface="Tahoma"/>
                <a:cs typeface="Tahoma"/>
              </a:rPr>
              <a:t>Chicago,</a:t>
            </a:r>
            <a:r>
              <a:rPr dirty="0" sz="1300" spc="-10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2A3440"/>
                </a:solidFill>
                <a:latin typeface="Tahoma"/>
                <a:cs typeface="Tahoma"/>
              </a:rPr>
              <a:t>and</a:t>
            </a:r>
            <a:r>
              <a:rPr dirty="0" sz="1300" spc="-10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2A3440"/>
                </a:solidFill>
                <a:latin typeface="Tahoma"/>
                <a:cs typeface="Tahoma"/>
              </a:rPr>
              <a:t>Los</a:t>
            </a:r>
            <a:r>
              <a:rPr dirty="0" sz="1300" spc="-10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2A3440"/>
                </a:solidFill>
                <a:latin typeface="Tahoma"/>
                <a:cs typeface="Tahoma"/>
              </a:rPr>
              <a:t>Angeles</a:t>
            </a:r>
            <a:r>
              <a:rPr dirty="0" sz="1300" spc="-10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2A3440"/>
                </a:solidFill>
                <a:latin typeface="Tahoma"/>
                <a:cs typeface="Tahoma"/>
              </a:rPr>
              <a:t>emerge</a:t>
            </a:r>
            <a:r>
              <a:rPr dirty="0" sz="1300" spc="-10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2A3440"/>
                </a:solidFill>
                <a:latin typeface="Tahoma"/>
                <a:cs typeface="Tahoma"/>
              </a:rPr>
              <a:t>as</a:t>
            </a:r>
            <a:r>
              <a:rPr dirty="0" sz="1300" spc="-10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2A3440"/>
                </a:solidFill>
                <a:latin typeface="Tahoma"/>
                <a:cs typeface="Tahoma"/>
              </a:rPr>
              <a:t>the</a:t>
            </a:r>
            <a:r>
              <a:rPr dirty="0" sz="1300" spc="-10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00" spc="-35">
                <a:solidFill>
                  <a:srgbClr val="2A3440"/>
                </a:solidFill>
                <a:latin typeface="Tahoma"/>
                <a:cs typeface="Tahoma"/>
              </a:rPr>
              <a:t>highest-</a:t>
            </a:r>
            <a:r>
              <a:rPr dirty="0" sz="1300" spc="-20">
                <a:solidFill>
                  <a:srgbClr val="2A3440"/>
                </a:solidFill>
                <a:latin typeface="Tahoma"/>
                <a:cs typeface="Tahoma"/>
              </a:rPr>
              <a:t>traffic</a:t>
            </a:r>
            <a:r>
              <a:rPr dirty="0" sz="1300" spc="-10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2A3440"/>
                </a:solidFill>
                <a:latin typeface="Tahoma"/>
                <a:cs typeface="Tahoma"/>
              </a:rPr>
              <a:t>connection</a:t>
            </a:r>
            <a:r>
              <a:rPr dirty="0" sz="1300" spc="-10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2A3440"/>
                </a:solidFill>
                <a:latin typeface="Tahoma"/>
                <a:cs typeface="Tahoma"/>
              </a:rPr>
              <a:t>points</a:t>
            </a:r>
            <a:r>
              <a:rPr dirty="0" sz="1300" spc="-10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2A3440"/>
                </a:solidFill>
                <a:latin typeface="Tahoma"/>
                <a:cs typeface="Tahoma"/>
              </a:rPr>
              <a:t>in</a:t>
            </a:r>
            <a:r>
              <a:rPr dirty="0" sz="1300" spc="-10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2A3440"/>
                </a:solidFill>
                <a:latin typeface="Tahoma"/>
                <a:cs typeface="Tahoma"/>
              </a:rPr>
              <a:t>the</a:t>
            </a:r>
            <a:r>
              <a:rPr dirty="0" sz="1300" spc="-10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2A3440"/>
                </a:solidFill>
                <a:latin typeface="Tahoma"/>
                <a:cs typeface="Tahoma"/>
              </a:rPr>
              <a:t>network.</a:t>
            </a:r>
            <a:endParaRPr sz="13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24" y="2333625"/>
            <a:ext cx="7839074" cy="3971924"/>
          </a:xfrm>
          <a:prstGeom prst="rect">
            <a:avLst/>
          </a:prstGeom>
        </p:spPr>
      </p:pic>
      <p:pic>
        <p:nvPicPr>
          <p:cNvPr id="9" name="object 9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00" spc="-165"/>
              <a:t>SQL-</a:t>
            </a:r>
            <a:r>
              <a:rPr dirty="0" sz="2300" spc="-110"/>
              <a:t>Data</a:t>
            </a:r>
            <a:r>
              <a:rPr dirty="0" sz="2300" spc="-229"/>
              <a:t> </a:t>
            </a:r>
            <a:r>
              <a:rPr dirty="0" sz="2300" spc="-60"/>
              <a:t>Preparation</a:t>
            </a:r>
            <a:endParaRPr sz="23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25" y="1085850"/>
            <a:ext cx="6753224" cy="3962399"/>
          </a:xfrm>
          <a:prstGeom prst="rect">
            <a:avLst/>
          </a:prstGeom>
        </p:spPr>
      </p:pic>
      <p:pic>
        <p:nvPicPr>
          <p:cNvPr id="4" name="object 4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5452" y="822928"/>
            <a:ext cx="9068435" cy="116967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580"/>
              </a:lnSpc>
              <a:spcBef>
                <a:spcPts val="50"/>
              </a:spcBef>
            </a:pPr>
            <a:r>
              <a:rPr dirty="0" sz="3700" spc="-190"/>
              <a:t>SQ</a:t>
            </a:r>
            <a:r>
              <a:rPr dirty="0" sz="3700" spc="-275"/>
              <a:t>L</a:t>
            </a:r>
            <a:r>
              <a:rPr dirty="0" sz="3700" spc="-890"/>
              <a:t>-</a:t>
            </a:r>
            <a:r>
              <a:rPr dirty="0" sz="3700" spc="-125"/>
              <a:t>Time</a:t>
            </a:r>
            <a:r>
              <a:rPr dirty="0" sz="3700" spc="-409"/>
              <a:t> </a:t>
            </a:r>
            <a:r>
              <a:rPr dirty="0" sz="3700" spc="-114"/>
              <a:t>Based</a:t>
            </a:r>
            <a:r>
              <a:rPr dirty="0" sz="3700" spc="-409"/>
              <a:t> </a:t>
            </a:r>
            <a:r>
              <a:rPr dirty="0" sz="3700" spc="-185"/>
              <a:t>analysis</a:t>
            </a:r>
            <a:r>
              <a:rPr dirty="0" sz="3700" spc="-409"/>
              <a:t> </a:t>
            </a:r>
            <a:r>
              <a:rPr dirty="0" sz="3700" spc="-110"/>
              <a:t>and</a:t>
            </a:r>
            <a:r>
              <a:rPr dirty="0" sz="3700" spc="-409"/>
              <a:t> </a:t>
            </a:r>
            <a:r>
              <a:rPr dirty="0" sz="3700" spc="-130"/>
              <a:t>Carrier</a:t>
            </a:r>
            <a:r>
              <a:rPr dirty="0" sz="3700" spc="-409"/>
              <a:t> </a:t>
            </a:r>
            <a:r>
              <a:rPr dirty="0" sz="3700" spc="-20"/>
              <a:t>wise </a:t>
            </a:r>
            <a:r>
              <a:rPr dirty="0" sz="3700" spc="-10"/>
              <a:t>Performance</a:t>
            </a:r>
            <a:endParaRPr sz="37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25" y="2533650"/>
            <a:ext cx="5153024" cy="32384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53175" y="2533650"/>
            <a:ext cx="5153024" cy="2771774"/>
          </a:xfrm>
          <a:prstGeom prst="rect">
            <a:avLst/>
          </a:prstGeom>
        </p:spPr>
      </p:pic>
      <p:pic>
        <p:nvPicPr>
          <p:cNvPr id="5" name="object 5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50" spc="-114"/>
              <a:t>Tableau</a:t>
            </a:r>
            <a:r>
              <a:rPr dirty="0" sz="2650" spc="-270"/>
              <a:t> </a:t>
            </a:r>
            <a:r>
              <a:rPr dirty="0" sz="2650" spc="-80"/>
              <a:t>DashBoard</a:t>
            </a:r>
            <a:endParaRPr sz="26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25" y="1257300"/>
            <a:ext cx="6543674" cy="3676649"/>
          </a:xfrm>
          <a:prstGeom prst="rect">
            <a:avLst/>
          </a:prstGeom>
        </p:spPr>
      </p:pic>
      <p:pic>
        <p:nvPicPr>
          <p:cNvPr id="4" name="object 4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5452" y="889603"/>
            <a:ext cx="8298180" cy="588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700" spc="-135"/>
              <a:t>Flights</a:t>
            </a:r>
            <a:r>
              <a:rPr dirty="0" sz="3700" spc="-425"/>
              <a:t> </a:t>
            </a:r>
            <a:r>
              <a:rPr dirty="0" sz="3700" spc="-165"/>
              <a:t>by</a:t>
            </a:r>
            <a:r>
              <a:rPr dirty="0" sz="3700" spc="-420"/>
              <a:t> </a:t>
            </a:r>
            <a:r>
              <a:rPr dirty="0" sz="3700" spc="-55"/>
              <a:t>Month</a:t>
            </a:r>
            <a:r>
              <a:rPr dirty="0" sz="3700" spc="-420"/>
              <a:t> </a:t>
            </a:r>
            <a:r>
              <a:rPr dirty="0" sz="3700" spc="-45"/>
              <a:t>—</a:t>
            </a:r>
            <a:r>
              <a:rPr dirty="0" sz="3700" spc="-420"/>
              <a:t> </a:t>
            </a:r>
            <a:r>
              <a:rPr dirty="0" sz="3700" spc="-150"/>
              <a:t>Seasonal</a:t>
            </a:r>
            <a:r>
              <a:rPr dirty="0" sz="3700" spc="-420"/>
              <a:t> </a:t>
            </a:r>
            <a:r>
              <a:rPr dirty="0" sz="3700" spc="-55"/>
              <a:t>Patterns</a:t>
            </a:r>
            <a:endParaRPr sz="3700"/>
          </a:p>
        </p:txBody>
      </p:sp>
      <p:sp>
        <p:nvSpPr>
          <p:cNvPr id="8" name="object 8"/>
          <p:cNvSpPr txBox="1"/>
          <p:nvPr/>
        </p:nvSpPr>
        <p:spPr>
          <a:xfrm>
            <a:off x="4720095" y="1984787"/>
            <a:ext cx="1146175" cy="306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ts val="1100"/>
              </a:lnSpc>
              <a:spcBef>
                <a:spcPts val="100"/>
              </a:spcBef>
            </a:pPr>
            <a:r>
              <a:rPr dirty="0" sz="950" spc="-25">
                <a:solidFill>
                  <a:srgbClr val="2A3440"/>
                </a:solidFill>
                <a:latin typeface="Tahoma"/>
                <a:cs typeface="Tahoma"/>
              </a:rPr>
              <a:t>Relative</a:t>
            </a:r>
            <a:r>
              <a:rPr dirty="0" sz="950" spc="-114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2A3440"/>
                </a:solidFill>
                <a:latin typeface="Tahoma"/>
                <a:cs typeface="Tahoma"/>
              </a:rPr>
              <a:t>Flight</a:t>
            </a:r>
            <a:r>
              <a:rPr dirty="0" sz="950" spc="-11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950" spc="-10">
                <a:solidFill>
                  <a:srgbClr val="2A3440"/>
                </a:solidFill>
                <a:latin typeface="Tahoma"/>
                <a:cs typeface="Tahoma"/>
              </a:rPr>
              <a:t>Volume</a:t>
            </a:r>
            <a:endParaRPr sz="950">
              <a:latin typeface="Tahoma"/>
              <a:cs typeface="Tahoma"/>
            </a:endParaRPr>
          </a:p>
          <a:p>
            <a:pPr algn="r" marR="10795">
              <a:lnSpc>
                <a:spcPts val="1100"/>
              </a:lnSpc>
            </a:pPr>
            <a:r>
              <a:rPr dirty="0" sz="950" spc="-25">
                <a:solidFill>
                  <a:srgbClr val="2A3440"/>
                </a:solidFill>
                <a:latin typeface="Tahoma"/>
                <a:cs typeface="Tahoma"/>
              </a:rPr>
              <a:t>100</a:t>
            </a:r>
            <a:endParaRPr sz="95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4150" y="2200215"/>
            <a:ext cx="4772148" cy="310189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91273" y="2609849"/>
            <a:ext cx="66675" cy="666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645211" y="2719989"/>
            <a:ext cx="154305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2A3440"/>
                </a:solidFill>
                <a:latin typeface="Tahoma"/>
                <a:cs typeface="Tahoma"/>
              </a:rPr>
              <a:t>80</a:t>
            </a:r>
            <a:endParaRPr sz="9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45211" y="3320205"/>
            <a:ext cx="154305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2A3440"/>
                </a:solidFill>
                <a:latin typeface="Tahoma"/>
                <a:cs typeface="Tahoma"/>
              </a:rPr>
              <a:t>60</a:t>
            </a:r>
            <a:endParaRPr sz="95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91273" y="3314699"/>
            <a:ext cx="66675" cy="666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645211" y="3920420"/>
            <a:ext cx="154305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2A3440"/>
                </a:solidFill>
                <a:latin typeface="Tahoma"/>
                <a:cs typeface="Tahoma"/>
              </a:rPr>
              <a:t>40</a:t>
            </a:r>
            <a:endParaRPr sz="95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91273" y="4029074"/>
            <a:ext cx="66675" cy="6667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336158" y="1972024"/>
            <a:ext cx="5146040" cy="2529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-95">
                <a:solidFill>
                  <a:srgbClr val="041C3A"/>
                </a:solidFill>
                <a:latin typeface="Verdana"/>
                <a:cs typeface="Verdana"/>
              </a:rPr>
              <a:t>Seasonal</a:t>
            </a:r>
            <a:r>
              <a:rPr dirty="0" sz="1850" spc="-200">
                <a:solidFill>
                  <a:srgbClr val="041C3A"/>
                </a:solidFill>
                <a:latin typeface="Verdana"/>
                <a:cs typeface="Verdana"/>
              </a:rPr>
              <a:t> </a:t>
            </a:r>
            <a:r>
              <a:rPr dirty="0" sz="1850" spc="-10">
                <a:solidFill>
                  <a:srgbClr val="041C3A"/>
                </a:solidFill>
                <a:latin typeface="Verdana"/>
                <a:cs typeface="Verdana"/>
              </a:rPr>
              <a:t>Insights</a:t>
            </a:r>
            <a:endParaRPr sz="1850">
              <a:latin typeface="Verdana"/>
              <a:cs typeface="Verdana"/>
            </a:endParaRPr>
          </a:p>
          <a:p>
            <a:pPr marL="331470" marR="50165">
              <a:lnSpc>
                <a:spcPct val="133100"/>
              </a:lnSpc>
              <a:spcBef>
                <a:spcPts val="1365"/>
              </a:spcBef>
            </a:pPr>
            <a:r>
              <a:rPr dirty="0" sz="1550" spc="-100" b="1">
                <a:solidFill>
                  <a:srgbClr val="2A3440"/>
                </a:solidFill>
                <a:latin typeface="Tahoma"/>
                <a:cs typeface="Tahoma"/>
              </a:rPr>
              <a:t>Summer </a:t>
            </a:r>
            <a:r>
              <a:rPr dirty="0" sz="1550" spc="-114" b="1">
                <a:solidFill>
                  <a:srgbClr val="2A3440"/>
                </a:solidFill>
                <a:latin typeface="Tahoma"/>
                <a:cs typeface="Tahoma"/>
              </a:rPr>
              <a:t>Peak</a:t>
            </a:r>
            <a:r>
              <a:rPr dirty="0" sz="1550" spc="-100" b="1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90" b="1">
                <a:solidFill>
                  <a:srgbClr val="2A3440"/>
                </a:solidFill>
                <a:latin typeface="Tahoma"/>
                <a:cs typeface="Tahoma"/>
              </a:rPr>
              <a:t>(Jun–</a:t>
            </a:r>
            <a:r>
              <a:rPr dirty="0" sz="1550" spc="-130" b="1">
                <a:solidFill>
                  <a:srgbClr val="2A3440"/>
                </a:solidFill>
                <a:latin typeface="Tahoma"/>
                <a:cs typeface="Tahoma"/>
              </a:rPr>
              <a:t>Aug):</a:t>
            </a:r>
            <a:r>
              <a:rPr dirty="0" sz="1550" spc="-80" b="1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Highest</a:t>
            </a:r>
            <a:r>
              <a:rPr dirty="0" sz="1550" spc="-10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30">
                <a:solidFill>
                  <a:srgbClr val="2A3440"/>
                </a:solidFill>
                <a:latin typeface="Tahoma"/>
                <a:cs typeface="Tahoma"/>
              </a:rPr>
              <a:t>travel</a:t>
            </a:r>
            <a:r>
              <a:rPr dirty="0" sz="1550" spc="-10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demand</a:t>
            </a:r>
            <a:r>
              <a:rPr dirty="0" sz="1550" spc="-10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driven by</a:t>
            </a:r>
            <a:r>
              <a:rPr dirty="0" sz="1550" spc="-13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leisure</a:t>
            </a:r>
            <a:r>
              <a:rPr dirty="0" sz="1550" spc="-13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and</a:t>
            </a:r>
            <a:r>
              <a:rPr dirty="0" sz="1550" spc="-13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vacation</a:t>
            </a:r>
            <a:r>
              <a:rPr dirty="0" sz="1550" spc="-13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traffic</a:t>
            </a:r>
            <a:endParaRPr sz="1550">
              <a:latin typeface="Tahoma"/>
              <a:cs typeface="Tahoma"/>
            </a:endParaRPr>
          </a:p>
          <a:p>
            <a:pPr marL="331470" marR="5080">
              <a:lnSpc>
                <a:spcPct val="137100"/>
              </a:lnSpc>
              <a:spcBef>
                <a:spcPts val="525"/>
              </a:spcBef>
            </a:pPr>
            <a:r>
              <a:rPr dirty="0" sz="1550" spc="-120" b="1">
                <a:solidFill>
                  <a:srgbClr val="2A3440"/>
                </a:solidFill>
                <a:latin typeface="Tahoma"/>
                <a:cs typeface="Tahoma"/>
              </a:rPr>
              <a:t>Winter</a:t>
            </a:r>
            <a:r>
              <a:rPr dirty="0" sz="1550" spc="-105" b="1">
                <a:solidFill>
                  <a:srgbClr val="2A3440"/>
                </a:solidFill>
                <a:latin typeface="Tahoma"/>
                <a:cs typeface="Tahoma"/>
              </a:rPr>
              <a:t> Dip </a:t>
            </a:r>
            <a:r>
              <a:rPr dirty="0" sz="1550" spc="-160" b="1">
                <a:solidFill>
                  <a:srgbClr val="2A3440"/>
                </a:solidFill>
                <a:latin typeface="Tahoma"/>
                <a:cs typeface="Tahoma"/>
              </a:rPr>
              <a:t>(Dec–</a:t>
            </a:r>
            <a:r>
              <a:rPr dirty="0" sz="1550" spc="-140" b="1">
                <a:solidFill>
                  <a:srgbClr val="2A3440"/>
                </a:solidFill>
                <a:latin typeface="Tahoma"/>
                <a:cs typeface="Tahoma"/>
              </a:rPr>
              <a:t>Feb):</a:t>
            </a:r>
            <a:r>
              <a:rPr dirty="0" sz="1550" spc="-80" b="1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Seasonal</a:t>
            </a:r>
            <a:r>
              <a:rPr dirty="0" sz="1550" spc="-10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slowdown</a:t>
            </a:r>
            <a:r>
              <a:rPr dirty="0" sz="1550" spc="-11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with</a:t>
            </a:r>
            <a:r>
              <a:rPr dirty="0" sz="1550" spc="-11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reduced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business</a:t>
            </a:r>
            <a:r>
              <a:rPr dirty="0" sz="1550" spc="-11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and</a:t>
            </a:r>
            <a:r>
              <a:rPr dirty="0" sz="1550" spc="-11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leisure</a:t>
            </a:r>
            <a:r>
              <a:rPr dirty="0" sz="1550" spc="-10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travel</a:t>
            </a:r>
            <a:endParaRPr sz="1550">
              <a:latin typeface="Tahoma"/>
              <a:cs typeface="Tahoma"/>
            </a:endParaRPr>
          </a:p>
          <a:p>
            <a:pPr marL="331470" marR="312420">
              <a:lnSpc>
                <a:spcPct val="133100"/>
              </a:lnSpc>
              <a:spcBef>
                <a:spcPts val="600"/>
              </a:spcBef>
            </a:pPr>
            <a:r>
              <a:rPr dirty="0" sz="1550" spc="-110" b="1">
                <a:solidFill>
                  <a:srgbClr val="2A3440"/>
                </a:solidFill>
                <a:latin typeface="Tahoma"/>
                <a:cs typeface="Tahoma"/>
              </a:rPr>
              <a:t>Holiday</a:t>
            </a:r>
            <a:r>
              <a:rPr dirty="0" sz="1550" spc="-90" b="1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5" b="1">
                <a:solidFill>
                  <a:srgbClr val="2A3440"/>
                </a:solidFill>
                <a:latin typeface="Tahoma"/>
                <a:cs typeface="Tahoma"/>
              </a:rPr>
              <a:t>Spikes:</a:t>
            </a:r>
            <a:r>
              <a:rPr dirty="0" sz="1550" spc="-65" b="1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Thanksgiving</a:t>
            </a:r>
            <a:r>
              <a:rPr dirty="0" sz="1550" spc="-9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and</a:t>
            </a:r>
            <a:r>
              <a:rPr dirty="0" sz="1550" spc="-9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Christmas</a:t>
            </a:r>
            <a:r>
              <a:rPr dirty="0" sz="1550" spc="-9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periods generate</a:t>
            </a:r>
            <a:r>
              <a:rPr dirty="0" sz="1550" spc="-11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sharp</a:t>
            </a:r>
            <a:r>
              <a:rPr dirty="0" sz="1550" spc="-10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30">
                <a:solidFill>
                  <a:srgbClr val="2A3440"/>
                </a:solidFill>
                <a:latin typeface="Tahoma"/>
                <a:cs typeface="Tahoma"/>
              </a:rPr>
              <a:t>short-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term</a:t>
            </a:r>
            <a:r>
              <a:rPr dirty="0" sz="1550" spc="-10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volume</a:t>
            </a:r>
            <a:r>
              <a:rPr dirty="0" sz="1550" spc="-10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surges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45211" y="4520635"/>
            <a:ext cx="154305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2A3440"/>
                </a:solidFill>
                <a:latin typeface="Tahoma"/>
                <a:cs typeface="Tahoma"/>
              </a:rPr>
              <a:t>20</a:t>
            </a:r>
            <a:endParaRPr sz="95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45211" y="5120850"/>
            <a:ext cx="92075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50">
                <a:solidFill>
                  <a:srgbClr val="2A3440"/>
                </a:solidFill>
                <a:latin typeface="Tahoma"/>
                <a:cs typeface="Tahoma"/>
              </a:rPr>
              <a:t>0</a:t>
            </a:r>
            <a:endParaRPr sz="9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9703" y="5320131"/>
            <a:ext cx="4583430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8305" algn="l"/>
                <a:tab pos="798195" algn="l"/>
                <a:tab pos="1204595" algn="l"/>
                <a:tab pos="1581785" algn="l"/>
                <a:tab pos="1994535" algn="l"/>
                <a:tab pos="2412365" algn="l"/>
                <a:tab pos="2778125" algn="l"/>
                <a:tab pos="3180080" algn="l"/>
                <a:tab pos="3587115" algn="l"/>
                <a:tab pos="3969385" algn="l"/>
                <a:tab pos="4368165" algn="l"/>
              </a:tabLst>
            </a:pPr>
            <a:r>
              <a:rPr dirty="0" sz="950" spc="-25">
                <a:solidFill>
                  <a:srgbClr val="2A3440"/>
                </a:solidFill>
                <a:latin typeface="Tahoma"/>
                <a:cs typeface="Tahoma"/>
              </a:rPr>
              <a:t>Jan</a:t>
            </a:r>
            <a:r>
              <a:rPr dirty="0" sz="950">
                <a:solidFill>
                  <a:srgbClr val="2A3440"/>
                </a:solidFill>
                <a:latin typeface="Tahoma"/>
                <a:cs typeface="Tahoma"/>
              </a:rPr>
              <a:t>	</a:t>
            </a:r>
            <a:r>
              <a:rPr dirty="0" sz="950" spc="-25">
                <a:solidFill>
                  <a:srgbClr val="2A3440"/>
                </a:solidFill>
                <a:latin typeface="Tahoma"/>
                <a:cs typeface="Tahoma"/>
              </a:rPr>
              <a:t>Feb</a:t>
            </a:r>
            <a:r>
              <a:rPr dirty="0" sz="950">
                <a:solidFill>
                  <a:srgbClr val="2A3440"/>
                </a:solidFill>
                <a:latin typeface="Tahoma"/>
                <a:cs typeface="Tahoma"/>
              </a:rPr>
              <a:t>	</a:t>
            </a:r>
            <a:r>
              <a:rPr dirty="0" sz="950" spc="-25">
                <a:solidFill>
                  <a:srgbClr val="2A3440"/>
                </a:solidFill>
                <a:latin typeface="Tahoma"/>
                <a:cs typeface="Tahoma"/>
              </a:rPr>
              <a:t>Mar</a:t>
            </a:r>
            <a:r>
              <a:rPr dirty="0" sz="950">
                <a:solidFill>
                  <a:srgbClr val="2A3440"/>
                </a:solidFill>
                <a:latin typeface="Tahoma"/>
                <a:cs typeface="Tahoma"/>
              </a:rPr>
              <a:t>	</a:t>
            </a:r>
            <a:r>
              <a:rPr dirty="0" sz="950" spc="-25">
                <a:solidFill>
                  <a:srgbClr val="2A3440"/>
                </a:solidFill>
                <a:latin typeface="Tahoma"/>
                <a:cs typeface="Tahoma"/>
              </a:rPr>
              <a:t>Apr</a:t>
            </a:r>
            <a:r>
              <a:rPr dirty="0" sz="950">
                <a:solidFill>
                  <a:srgbClr val="2A3440"/>
                </a:solidFill>
                <a:latin typeface="Tahoma"/>
                <a:cs typeface="Tahoma"/>
              </a:rPr>
              <a:t>	</a:t>
            </a:r>
            <a:r>
              <a:rPr dirty="0" sz="950" spc="-25">
                <a:solidFill>
                  <a:srgbClr val="2A3440"/>
                </a:solidFill>
                <a:latin typeface="Tahoma"/>
                <a:cs typeface="Tahoma"/>
              </a:rPr>
              <a:t>May</a:t>
            </a:r>
            <a:r>
              <a:rPr dirty="0" sz="950">
                <a:solidFill>
                  <a:srgbClr val="2A3440"/>
                </a:solidFill>
                <a:latin typeface="Tahoma"/>
                <a:cs typeface="Tahoma"/>
              </a:rPr>
              <a:t>	</a:t>
            </a:r>
            <a:r>
              <a:rPr dirty="0" sz="950" spc="-25">
                <a:solidFill>
                  <a:srgbClr val="2A3440"/>
                </a:solidFill>
                <a:latin typeface="Tahoma"/>
                <a:cs typeface="Tahoma"/>
              </a:rPr>
              <a:t>Jun</a:t>
            </a:r>
            <a:r>
              <a:rPr dirty="0" sz="950">
                <a:solidFill>
                  <a:srgbClr val="2A3440"/>
                </a:solidFill>
                <a:latin typeface="Tahoma"/>
                <a:cs typeface="Tahoma"/>
              </a:rPr>
              <a:t>	</a:t>
            </a:r>
            <a:r>
              <a:rPr dirty="0" sz="950" spc="-25">
                <a:solidFill>
                  <a:srgbClr val="2A3440"/>
                </a:solidFill>
                <a:latin typeface="Tahoma"/>
                <a:cs typeface="Tahoma"/>
              </a:rPr>
              <a:t>Jul</a:t>
            </a:r>
            <a:r>
              <a:rPr dirty="0" sz="950">
                <a:solidFill>
                  <a:srgbClr val="2A3440"/>
                </a:solidFill>
                <a:latin typeface="Tahoma"/>
                <a:cs typeface="Tahoma"/>
              </a:rPr>
              <a:t>	</a:t>
            </a:r>
            <a:r>
              <a:rPr dirty="0" sz="950" spc="-25">
                <a:solidFill>
                  <a:srgbClr val="2A3440"/>
                </a:solidFill>
                <a:latin typeface="Tahoma"/>
                <a:cs typeface="Tahoma"/>
              </a:rPr>
              <a:t>Aug</a:t>
            </a:r>
            <a:r>
              <a:rPr dirty="0" sz="950">
                <a:solidFill>
                  <a:srgbClr val="2A3440"/>
                </a:solidFill>
                <a:latin typeface="Tahoma"/>
                <a:cs typeface="Tahoma"/>
              </a:rPr>
              <a:t>	</a:t>
            </a:r>
            <a:r>
              <a:rPr dirty="0" sz="950" spc="-25">
                <a:solidFill>
                  <a:srgbClr val="2A3440"/>
                </a:solidFill>
                <a:latin typeface="Tahoma"/>
                <a:cs typeface="Tahoma"/>
              </a:rPr>
              <a:t>Sep</a:t>
            </a:r>
            <a:r>
              <a:rPr dirty="0" sz="950">
                <a:solidFill>
                  <a:srgbClr val="2A3440"/>
                </a:solidFill>
                <a:latin typeface="Tahoma"/>
                <a:cs typeface="Tahoma"/>
              </a:rPr>
              <a:t>	</a:t>
            </a:r>
            <a:r>
              <a:rPr dirty="0" sz="950" spc="-25">
                <a:solidFill>
                  <a:srgbClr val="2A3440"/>
                </a:solidFill>
                <a:latin typeface="Tahoma"/>
                <a:cs typeface="Tahoma"/>
              </a:rPr>
              <a:t>Oct</a:t>
            </a:r>
            <a:r>
              <a:rPr dirty="0" sz="950">
                <a:solidFill>
                  <a:srgbClr val="2A3440"/>
                </a:solidFill>
                <a:latin typeface="Tahoma"/>
                <a:cs typeface="Tahoma"/>
              </a:rPr>
              <a:t>	</a:t>
            </a:r>
            <a:r>
              <a:rPr dirty="0" sz="950" spc="-25">
                <a:solidFill>
                  <a:srgbClr val="2A3440"/>
                </a:solidFill>
                <a:latin typeface="Tahoma"/>
                <a:cs typeface="Tahoma"/>
              </a:rPr>
              <a:t>Nov</a:t>
            </a:r>
            <a:r>
              <a:rPr dirty="0" sz="950">
                <a:solidFill>
                  <a:srgbClr val="2A3440"/>
                </a:solidFill>
                <a:latin typeface="Tahoma"/>
                <a:cs typeface="Tahoma"/>
              </a:rPr>
              <a:t>	</a:t>
            </a:r>
            <a:r>
              <a:rPr dirty="0" sz="950" spc="-25">
                <a:solidFill>
                  <a:srgbClr val="2A3440"/>
                </a:solidFill>
                <a:latin typeface="Tahoma"/>
                <a:cs typeface="Tahoma"/>
              </a:rPr>
              <a:t>Dec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36158" y="4646815"/>
            <a:ext cx="4484370" cy="9874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just" marL="12700" marR="5080">
              <a:lnSpc>
                <a:spcPct val="135100"/>
              </a:lnSpc>
              <a:spcBef>
                <a:spcPts val="130"/>
              </a:spcBef>
            </a:pP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Understanding</a:t>
            </a:r>
            <a:r>
              <a:rPr dirty="0" sz="1550" spc="-9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seasonality</a:t>
            </a:r>
            <a:r>
              <a:rPr dirty="0" sz="1550" spc="-9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enables</a:t>
            </a:r>
            <a:r>
              <a:rPr dirty="0" sz="1550" spc="-9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smarter</a:t>
            </a:r>
            <a:r>
              <a:rPr dirty="0" sz="1550" spc="-9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capacity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planning</a:t>
            </a:r>
            <a:r>
              <a:rPr dirty="0" sz="1550" spc="-8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2A3440"/>
                </a:solidFill>
                <a:latin typeface="Tahoma"/>
                <a:cs typeface="Tahoma"/>
              </a:rPr>
              <a:t>and</a:t>
            </a:r>
            <a:r>
              <a:rPr dirty="0" sz="1550" spc="-8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2A3440"/>
                </a:solidFill>
                <a:latin typeface="Tahoma"/>
                <a:cs typeface="Tahoma"/>
              </a:rPr>
              <a:t>targeted</a:t>
            </a:r>
            <a:r>
              <a:rPr dirty="0" sz="1550" spc="-8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pricing</a:t>
            </a:r>
            <a:r>
              <a:rPr dirty="0" sz="1550" spc="-8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strategies</a:t>
            </a:r>
            <a:r>
              <a:rPr dirty="0" sz="1550" spc="-8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2A3440"/>
                </a:solidFill>
                <a:latin typeface="Tahoma"/>
                <a:cs typeface="Tahoma"/>
              </a:rPr>
              <a:t>for</a:t>
            </a:r>
            <a:r>
              <a:rPr dirty="0" sz="1550" spc="-8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2A3440"/>
                </a:solidFill>
                <a:latin typeface="Tahoma"/>
                <a:cs typeface="Tahoma"/>
              </a:rPr>
              <a:t>revenue optimization.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36376" y="5533104"/>
            <a:ext cx="363855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>
                <a:solidFill>
                  <a:srgbClr val="2A3440"/>
                </a:solidFill>
                <a:latin typeface="Tahoma"/>
                <a:cs typeface="Tahoma"/>
              </a:rPr>
              <a:t>Month</a:t>
            </a:r>
            <a:endParaRPr sz="950">
              <a:latin typeface="Tahoma"/>
              <a:cs typeface="Tahoma"/>
            </a:endParaRPr>
          </a:p>
        </p:txBody>
      </p:sp>
      <p:pic>
        <p:nvPicPr>
          <p:cNvPr id="17" name="object 17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95"/>
              <a:t>Carrier</a:t>
            </a:r>
            <a:r>
              <a:rPr dirty="0" spc="-305"/>
              <a:t> </a:t>
            </a:r>
            <a:r>
              <a:rPr dirty="0" spc="-70"/>
              <a:t>Performance</a:t>
            </a:r>
            <a:r>
              <a:rPr dirty="0" spc="-305"/>
              <a:t> </a:t>
            </a:r>
            <a:r>
              <a:rPr dirty="0" spc="-55"/>
              <a:t>Comparison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95324" y="1876424"/>
            <a:ext cx="3505200" cy="1314450"/>
            <a:chOff x="695324" y="1876424"/>
            <a:chExt cx="3505200" cy="1314450"/>
          </a:xfrm>
        </p:grpSpPr>
        <p:sp>
          <p:nvSpPr>
            <p:cNvPr id="4" name="object 4"/>
            <p:cNvSpPr/>
            <p:nvPr/>
          </p:nvSpPr>
          <p:spPr>
            <a:xfrm>
              <a:off x="704849" y="1885949"/>
              <a:ext cx="3486150" cy="1295400"/>
            </a:xfrm>
            <a:custGeom>
              <a:avLst/>
              <a:gdLst/>
              <a:ahLst/>
              <a:cxnLst/>
              <a:rect l="l" t="t" r="r" b="b"/>
              <a:pathLst>
                <a:path w="3486150" h="1295400">
                  <a:moveTo>
                    <a:pt x="3437968" y="1295399"/>
                  </a:moveTo>
                  <a:lnTo>
                    <a:pt x="48181" y="1295399"/>
                  </a:lnTo>
                  <a:lnTo>
                    <a:pt x="44827" y="1295069"/>
                  </a:lnTo>
                  <a:lnTo>
                    <a:pt x="10571" y="1275296"/>
                  </a:lnTo>
                  <a:lnTo>
                    <a:pt x="0" y="1247218"/>
                  </a:lnTo>
                  <a:lnTo>
                    <a:pt x="0" y="1243832"/>
                  </a:lnTo>
                  <a:lnTo>
                    <a:pt x="0" y="48181"/>
                  </a:lnTo>
                  <a:lnTo>
                    <a:pt x="17497" y="12709"/>
                  </a:lnTo>
                  <a:lnTo>
                    <a:pt x="48181" y="0"/>
                  </a:lnTo>
                  <a:lnTo>
                    <a:pt x="3437968" y="0"/>
                  </a:lnTo>
                  <a:lnTo>
                    <a:pt x="3473439" y="17497"/>
                  </a:lnTo>
                  <a:lnTo>
                    <a:pt x="3486149" y="48181"/>
                  </a:lnTo>
                  <a:lnTo>
                    <a:pt x="3486149" y="1247218"/>
                  </a:lnTo>
                  <a:lnTo>
                    <a:pt x="3468651" y="1282690"/>
                  </a:lnTo>
                  <a:lnTo>
                    <a:pt x="3441322" y="1295069"/>
                  </a:lnTo>
                  <a:lnTo>
                    <a:pt x="3437968" y="1295399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04849" y="1885949"/>
              <a:ext cx="3486150" cy="1295400"/>
            </a:xfrm>
            <a:custGeom>
              <a:avLst/>
              <a:gdLst/>
              <a:ahLst/>
              <a:cxnLst/>
              <a:rect l="l" t="t" r="r" b="b"/>
              <a:pathLst>
                <a:path w="3486150" h="1295400">
                  <a:moveTo>
                    <a:pt x="0" y="1243832"/>
                  </a:moveTo>
                  <a:lnTo>
                    <a:pt x="0" y="51567"/>
                  </a:lnTo>
                  <a:lnTo>
                    <a:pt x="0" y="48181"/>
                  </a:lnTo>
                  <a:lnTo>
                    <a:pt x="330" y="44827"/>
                  </a:lnTo>
                  <a:lnTo>
                    <a:pt x="990" y="41506"/>
                  </a:lnTo>
                  <a:lnTo>
                    <a:pt x="1651" y="38185"/>
                  </a:lnTo>
                  <a:lnTo>
                    <a:pt x="2629" y="34961"/>
                  </a:lnTo>
                  <a:lnTo>
                    <a:pt x="3925" y="31833"/>
                  </a:lnTo>
                  <a:lnTo>
                    <a:pt x="5221" y="28704"/>
                  </a:lnTo>
                  <a:lnTo>
                    <a:pt x="6809" y="25733"/>
                  </a:lnTo>
                  <a:lnTo>
                    <a:pt x="8690" y="22917"/>
                  </a:lnTo>
                  <a:lnTo>
                    <a:pt x="10571" y="20102"/>
                  </a:lnTo>
                  <a:lnTo>
                    <a:pt x="22917" y="8690"/>
                  </a:lnTo>
                  <a:lnTo>
                    <a:pt x="25733" y="6809"/>
                  </a:lnTo>
                  <a:lnTo>
                    <a:pt x="28704" y="5220"/>
                  </a:lnTo>
                  <a:lnTo>
                    <a:pt x="31833" y="3925"/>
                  </a:lnTo>
                  <a:lnTo>
                    <a:pt x="34961" y="2629"/>
                  </a:lnTo>
                  <a:lnTo>
                    <a:pt x="38185" y="1651"/>
                  </a:lnTo>
                  <a:lnTo>
                    <a:pt x="41506" y="990"/>
                  </a:lnTo>
                  <a:lnTo>
                    <a:pt x="44827" y="330"/>
                  </a:lnTo>
                  <a:lnTo>
                    <a:pt x="48181" y="0"/>
                  </a:lnTo>
                  <a:lnTo>
                    <a:pt x="51567" y="0"/>
                  </a:lnTo>
                  <a:lnTo>
                    <a:pt x="3434582" y="0"/>
                  </a:lnTo>
                  <a:lnTo>
                    <a:pt x="3437968" y="0"/>
                  </a:lnTo>
                  <a:lnTo>
                    <a:pt x="3441322" y="330"/>
                  </a:lnTo>
                  <a:lnTo>
                    <a:pt x="3444642" y="990"/>
                  </a:lnTo>
                  <a:lnTo>
                    <a:pt x="3447963" y="1651"/>
                  </a:lnTo>
                  <a:lnTo>
                    <a:pt x="3451188" y="2629"/>
                  </a:lnTo>
                  <a:lnTo>
                    <a:pt x="3454316" y="3925"/>
                  </a:lnTo>
                  <a:lnTo>
                    <a:pt x="3457444" y="5220"/>
                  </a:lnTo>
                  <a:lnTo>
                    <a:pt x="3460416" y="6809"/>
                  </a:lnTo>
                  <a:lnTo>
                    <a:pt x="3463231" y="8690"/>
                  </a:lnTo>
                  <a:lnTo>
                    <a:pt x="3466046" y="10571"/>
                  </a:lnTo>
                  <a:lnTo>
                    <a:pt x="3482223" y="31833"/>
                  </a:lnTo>
                  <a:lnTo>
                    <a:pt x="3483519" y="34961"/>
                  </a:lnTo>
                  <a:lnTo>
                    <a:pt x="3484497" y="38185"/>
                  </a:lnTo>
                  <a:lnTo>
                    <a:pt x="3485158" y="41506"/>
                  </a:lnTo>
                  <a:lnTo>
                    <a:pt x="3485818" y="44827"/>
                  </a:lnTo>
                  <a:lnTo>
                    <a:pt x="3486149" y="48181"/>
                  </a:lnTo>
                  <a:lnTo>
                    <a:pt x="3486149" y="51567"/>
                  </a:lnTo>
                  <a:lnTo>
                    <a:pt x="3486149" y="1243832"/>
                  </a:lnTo>
                  <a:lnTo>
                    <a:pt x="3486149" y="1247218"/>
                  </a:lnTo>
                  <a:lnTo>
                    <a:pt x="3485818" y="1250572"/>
                  </a:lnTo>
                  <a:lnTo>
                    <a:pt x="3485158" y="1253893"/>
                  </a:lnTo>
                  <a:lnTo>
                    <a:pt x="3484497" y="1257213"/>
                  </a:lnTo>
                  <a:lnTo>
                    <a:pt x="3463231" y="1286708"/>
                  </a:lnTo>
                  <a:lnTo>
                    <a:pt x="3460416" y="1288590"/>
                  </a:lnTo>
                  <a:lnTo>
                    <a:pt x="3457444" y="1290178"/>
                  </a:lnTo>
                  <a:lnTo>
                    <a:pt x="3454316" y="1291474"/>
                  </a:lnTo>
                  <a:lnTo>
                    <a:pt x="3451188" y="1292770"/>
                  </a:lnTo>
                  <a:lnTo>
                    <a:pt x="3447963" y="1293748"/>
                  </a:lnTo>
                  <a:lnTo>
                    <a:pt x="3444642" y="1294409"/>
                  </a:lnTo>
                  <a:lnTo>
                    <a:pt x="3441322" y="1295069"/>
                  </a:lnTo>
                  <a:lnTo>
                    <a:pt x="3437968" y="1295399"/>
                  </a:lnTo>
                  <a:lnTo>
                    <a:pt x="3434582" y="1295399"/>
                  </a:lnTo>
                  <a:lnTo>
                    <a:pt x="51567" y="1295399"/>
                  </a:lnTo>
                  <a:lnTo>
                    <a:pt x="48181" y="1295399"/>
                  </a:lnTo>
                  <a:lnTo>
                    <a:pt x="44827" y="1295069"/>
                  </a:lnTo>
                  <a:lnTo>
                    <a:pt x="41506" y="1294409"/>
                  </a:lnTo>
                  <a:lnTo>
                    <a:pt x="38185" y="1293748"/>
                  </a:lnTo>
                  <a:lnTo>
                    <a:pt x="34961" y="1292770"/>
                  </a:lnTo>
                  <a:lnTo>
                    <a:pt x="31833" y="1291474"/>
                  </a:lnTo>
                  <a:lnTo>
                    <a:pt x="28704" y="1290178"/>
                  </a:lnTo>
                  <a:lnTo>
                    <a:pt x="25733" y="1288590"/>
                  </a:lnTo>
                  <a:lnTo>
                    <a:pt x="22917" y="1286708"/>
                  </a:lnTo>
                  <a:lnTo>
                    <a:pt x="20102" y="1284827"/>
                  </a:lnTo>
                  <a:lnTo>
                    <a:pt x="990" y="1253892"/>
                  </a:lnTo>
                  <a:lnTo>
                    <a:pt x="330" y="1250572"/>
                  </a:lnTo>
                  <a:lnTo>
                    <a:pt x="0" y="1247218"/>
                  </a:lnTo>
                  <a:lnTo>
                    <a:pt x="0" y="1243832"/>
                  </a:lnTo>
                  <a:close/>
                </a:path>
              </a:pathLst>
            </a:custGeom>
            <a:ln w="19049">
              <a:solidFill>
                <a:srgbClr val="D5CC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685452" y="1429861"/>
            <a:ext cx="3056255" cy="15424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00" spc="-75">
                <a:solidFill>
                  <a:srgbClr val="041C3A"/>
                </a:solidFill>
                <a:latin typeface="Verdana"/>
                <a:cs typeface="Verdana"/>
              </a:rPr>
              <a:t>Competitive</a:t>
            </a:r>
            <a:r>
              <a:rPr dirty="0" sz="1600" spc="-130">
                <a:solidFill>
                  <a:srgbClr val="041C3A"/>
                </a:solidFill>
                <a:latin typeface="Verdana"/>
                <a:cs typeface="Verdana"/>
              </a:rPr>
              <a:t> </a:t>
            </a:r>
            <a:r>
              <a:rPr dirty="0" sz="1600" spc="-10">
                <a:solidFill>
                  <a:srgbClr val="041C3A"/>
                </a:solidFill>
                <a:latin typeface="Verdana"/>
                <a:cs typeface="Verdana"/>
              </a:rPr>
              <a:t>Landscape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1600">
              <a:latin typeface="Verdana"/>
              <a:cs typeface="Verdana"/>
            </a:endParaRPr>
          </a:p>
          <a:p>
            <a:pPr marL="205740">
              <a:lnSpc>
                <a:spcPct val="100000"/>
              </a:lnSpc>
            </a:pPr>
            <a:r>
              <a:rPr dirty="0" sz="1600" spc="-70">
                <a:solidFill>
                  <a:srgbClr val="2A3440"/>
                </a:solidFill>
                <a:latin typeface="Verdana"/>
                <a:cs typeface="Verdana"/>
              </a:rPr>
              <a:t>Southwest</a:t>
            </a:r>
            <a:r>
              <a:rPr dirty="0" sz="1600" spc="-150">
                <a:solidFill>
                  <a:srgbClr val="2A3440"/>
                </a:solidFill>
                <a:latin typeface="Verdana"/>
                <a:cs typeface="Verdana"/>
              </a:rPr>
              <a:t> </a:t>
            </a:r>
            <a:r>
              <a:rPr dirty="0" sz="1600" spc="-10">
                <a:solidFill>
                  <a:srgbClr val="2A3440"/>
                </a:solidFill>
                <a:latin typeface="Verdana"/>
                <a:cs typeface="Verdana"/>
              </a:rPr>
              <a:t>Airlines</a:t>
            </a:r>
            <a:endParaRPr sz="1600">
              <a:latin typeface="Verdana"/>
              <a:cs typeface="Verdana"/>
            </a:endParaRPr>
          </a:p>
          <a:p>
            <a:pPr marL="205740" marR="5080">
              <a:lnSpc>
                <a:spcPct val="125000"/>
              </a:lnSpc>
              <a:spcBef>
                <a:spcPts val="1075"/>
              </a:spcBef>
            </a:pPr>
            <a:r>
              <a:rPr dirty="0" sz="1350">
                <a:solidFill>
                  <a:srgbClr val="2A3440"/>
                </a:solidFill>
                <a:latin typeface="Tahoma"/>
                <a:cs typeface="Tahoma"/>
              </a:rPr>
              <a:t>Leads</a:t>
            </a:r>
            <a:r>
              <a:rPr dirty="0" sz="1350" spc="-12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A3440"/>
                </a:solidFill>
                <a:latin typeface="Tahoma"/>
                <a:cs typeface="Tahoma"/>
              </a:rPr>
              <a:t>in</a:t>
            </a:r>
            <a:r>
              <a:rPr dirty="0" sz="1350" spc="-12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A3440"/>
                </a:solidFill>
                <a:latin typeface="Tahoma"/>
                <a:cs typeface="Tahoma"/>
              </a:rPr>
              <a:t>total</a:t>
            </a:r>
            <a:r>
              <a:rPr dirty="0" sz="1350" spc="-12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A3440"/>
                </a:solidFill>
                <a:latin typeface="Tahoma"/>
                <a:cs typeface="Tahoma"/>
              </a:rPr>
              <a:t>flight</a:t>
            </a:r>
            <a:r>
              <a:rPr dirty="0" sz="1350" spc="-12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A3440"/>
                </a:solidFill>
                <a:latin typeface="Tahoma"/>
                <a:cs typeface="Tahoma"/>
              </a:rPr>
              <a:t>operations</a:t>
            </a:r>
            <a:r>
              <a:rPr dirty="0" sz="1350" spc="-12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50" spc="145">
                <a:solidFill>
                  <a:srgbClr val="2A3440"/>
                </a:solidFill>
                <a:latin typeface="Tahoma"/>
                <a:cs typeface="Tahoma"/>
              </a:rPr>
              <a:t>—</a:t>
            </a:r>
            <a:r>
              <a:rPr dirty="0" sz="1350" spc="-12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A3440"/>
                </a:solidFill>
                <a:latin typeface="Tahoma"/>
                <a:cs typeface="Tahoma"/>
              </a:rPr>
              <a:t>high </a:t>
            </a:r>
            <a:r>
              <a:rPr dirty="0" sz="1350" spc="-25">
                <a:solidFill>
                  <a:srgbClr val="2A3440"/>
                </a:solidFill>
                <a:latin typeface="Tahoma"/>
                <a:cs typeface="Tahoma"/>
              </a:rPr>
              <a:t>frequency,</a:t>
            </a:r>
            <a:r>
              <a:rPr dirty="0" sz="1350" spc="-8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A3440"/>
                </a:solidFill>
                <a:latin typeface="Tahoma"/>
                <a:cs typeface="Tahoma"/>
              </a:rPr>
              <a:t>cost-</a:t>
            </a:r>
            <a:r>
              <a:rPr dirty="0" sz="1350">
                <a:solidFill>
                  <a:srgbClr val="2A3440"/>
                </a:solidFill>
                <a:latin typeface="Tahoma"/>
                <a:cs typeface="Tahoma"/>
              </a:rPr>
              <a:t>efficient</a:t>
            </a:r>
            <a:r>
              <a:rPr dirty="0" sz="1350" spc="-7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A3440"/>
                </a:solidFill>
                <a:latin typeface="Tahoma"/>
                <a:cs typeface="Tahoma"/>
              </a:rPr>
              <a:t>model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95324" y="3343274"/>
            <a:ext cx="3505200" cy="1323975"/>
            <a:chOff x="695324" y="3343274"/>
            <a:chExt cx="3505200" cy="1323975"/>
          </a:xfrm>
        </p:grpSpPr>
        <p:sp>
          <p:nvSpPr>
            <p:cNvPr id="8" name="object 8"/>
            <p:cNvSpPr/>
            <p:nvPr/>
          </p:nvSpPr>
          <p:spPr>
            <a:xfrm>
              <a:off x="704849" y="3352799"/>
              <a:ext cx="3486150" cy="1304925"/>
            </a:xfrm>
            <a:custGeom>
              <a:avLst/>
              <a:gdLst/>
              <a:ahLst/>
              <a:cxnLst/>
              <a:rect l="l" t="t" r="r" b="b"/>
              <a:pathLst>
                <a:path w="3486150" h="1304925">
                  <a:moveTo>
                    <a:pt x="3437968" y="1304924"/>
                  </a:moveTo>
                  <a:lnTo>
                    <a:pt x="48181" y="1304924"/>
                  </a:lnTo>
                  <a:lnTo>
                    <a:pt x="44827" y="1304594"/>
                  </a:lnTo>
                  <a:lnTo>
                    <a:pt x="10571" y="1284821"/>
                  </a:lnTo>
                  <a:lnTo>
                    <a:pt x="0" y="1256743"/>
                  </a:lnTo>
                  <a:lnTo>
                    <a:pt x="0" y="1253357"/>
                  </a:lnTo>
                  <a:lnTo>
                    <a:pt x="0" y="48180"/>
                  </a:lnTo>
                  <a:lnTo>
                    <a:pt x="17497" y="12709"/>
                  </a:lnTo>
                  <a:lnTo>
                    <a:pt x="48181" y="0"/>
                  </a:lnTo>
                  <a:lnTo>
                    <a:pt x="3437968" y="0"/>
                  </a:lnTo>
                  <a:lnTo>
                    <a:pt x="3473439" y="17497"/>
                  </a:lnTo>
                  <a:lnTo>
                    <a:pt x="3486149" y="48180"/>
                  </a:lnTo>
                  <a:lnTo>
                    <a:pt x="3486149" y="1256743"/>
                  </a:lnTo>
                  <a:lnTo>
                    <a:pt x="3468651" y="1292215"/>
                  </a:lnTo>
                  <a:lnTo>
                    <a:pt x="3441322" y="1304594"/>
                  </a:lnTo>
                  <a:lnTo>
                    <a:pt x="3437968" y="1304924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04849" y="3352799"/>
              <a:ext cx="3486150" cy="1304925"/>
            </a:xfrm>
            <a:custGeom>
              <a:avLst/>
              <a:gdLst/>
              <a:ahLst/>
              <a:cxnLst/>
              <a:rect l="l" t="t" r="r" b="b"/>
              <a:pathLst>
                <a:path w="3486150" h="1304925">
                  <a:moveTo>
                    <a:pt x="0" y="1253357"/>
                  </a:moveTo>
                  <a:lnTo>
                    <a:pt x="0" y="51566"/>
                  </a:lnTo>
                  <a:lnTo>
                    <a:pt x="0" y="48180"/>
                  </a:lnTo>
                  <a:lnTo>
                    <a:pt x="330" y="44827"/>
                  </a:lnTo>
                  <a:lnTo>
                    <a:pt x="990" y="41506"/>
                  </a:lnTo>
                  <a:lnTo>
                    <a:pt x="1651" y="38185"/>
                  </a:lnTo>
                  <a:lnTo>
                    <a:pt x="2629" y="34960"/>
                  </a:lnTo>
                  <a:lnTo>
                    <a:pt x="3925" y="31832"/>
                  </a:lnTo>
                  <a:lnTo>
                    <a:pt x="5221" y="28704"/>
                  </a:lnTo>
                  <a:lnTo>
                    <a:pt x="6809" y="25733"/>
                  </a:lnTo>
                  <a:lnTo>
                    <a:pt x="22917" y="8690"/>
                  </a:lnTo>
                  <a:lnTo>
                    <a:pt x="25733" y="6808"/>
                  </a:lnTo>
                  <a:lnTo>
                    <a:pt x="28704" y="5220"/>
                  </a:lnTo>
                  <a:lnTo>
                    <a:pt x="31833" y="3924"/>
                  </a:lnTo>
                  <a:lnTo>
                    <a:pt x="34961" y="2629"/>
                  </a:lnTo>
                  <a:lnTo>
                    <a:pt x="38185" y="1651"/>
                  </a:lnTo>
                  <a:lnTo>
                    <a:pt x="41506" y="990"/>
                  </a:lnTo>
                  <a:lnTo>
                    <a:pt x="44827" y="330"/>
                  </a:lnTo>
                  <a:lnTo>
                    <a:pt x="48181" y="0"/>
                  </a:lnTo>
                  <a:lnTo>
                    <a:pt x="51567" y="0"/>
                  </a:lnTo>
                  <a:lnTo>
                    <a:pt x="3434582" y="0"/>
                  </a:lnTo>
                  <a:lnTo>
                    <a:pt x="3437968" y="0"/>
                  </a:lnTo>
                  <a:lnTo>
                    <a:pt x="3441322" y="330"/>
                  </a:lnTo>
                  <a:lnTo>
                    <a:pt x="3444642" y="990"/>
                  </a:lnTo>
                  <a:lnTo>
                    <a:pt x="3447963" y="1651"/>
                  </a:lnTo>
                  <a:lnTo>
                    <a:pt x="3451188" y="2629"/>
                  </a:lnTo>
                  <a:lnTo>
                    <a:pt x="3454316" y="3924"/>
                  </a:lnTo>
                  <a:lnTo>
                    <a:pt x="3457444" y="5220"/>
                  </a:lnTo>
                  <a:lnTo>
                    <a:pt x="3460416" y="6808"/>
                  </a:lnTo>
                  <a:lnTo>
                    <a:pt x="3463231" y="8690"/>
                  </a:lnTo>
                  <a:lnTo>
                    <a:pt x="3466046" y="10571"/>
                  </a:lnTo>
                  <a:lnTo>
                    <a:pt x="3482223" y="31832"/>
                  </a:lnTo>
                  <a:lnTo>
                    <a:pt x="3483519" y="34960"/>
                  </a:lnTo>
                  <a:lnTo>
                    <a:pt x="3484497" y="38185"/>
                  </a:lnTo>
                  <a:lnTo>
                    <a:pt x="3485158" y="41506"/>
                  </a:lnTo>
                  <a:lnTo>
                    <a:pt x="3485818" y="44827"/>
                  </a:lnTo>
                  <a:lnTo>
                    <a:pt x="3486149" y="48180"/>
                  </a:lnTo>
                  <a:lnTo>
                    <a:pt x="3486149" y="51566"/>
                  </a:lnTo>
                  <a:lnTo>
                    <a:pt x="3486149" y="1253357"/>
                  </a:lnTo>
                  <a:lnTo>
                    <a:pt x="3486149" y="1256743"/>
                  </a:lnTo>
                  <a:lnTo>
                    <a:pt x="3485818" y="1260096"/>
                  </a:lnTo>
                  <a:lnTo>
                    <a:pt x="3485158" y="1263417"/>
                  </a:lnTo>
                  <a:lnTo>
                    <a:pt x="3484497" y="1266738"/>
                  </a:lnTo>
                  <a:lnTo>
                    <a:pt x="3463231" y="1296233"/>
                  </a:lnTo>
                  <a:lnTo>
                    <a:pt x="3460416" y="1298114"/>
                  </a:lnTo>
                  <a:lnTo>
                    <a:pt x="3437968" y="1304924"/>
                  </a:lnTo>
                  <a:lnTo>
                    <a:pt x="3434582" y="1304924"/>
                  </a:lnTo>
                  <a:lnTo>
                    <a:pt x="51567" y="1304924"/>
                  </a:lnTo>
                  <a:lnTo>
                    <a:pt x="48181" y="1304924"/>
                  </a:lnTo>
                  <a:lnTo>
                    <a:pt x="44827" y="1304594"/>
                  </a:lnTo>
                  <a:lnTo>
                    <a:pt x="22917" y="1296233"/>
                  </a:lnTo>
                  <a:lnTo>
                    <a:pt x="20102" y="1294352"/>
                  </a:lnTo>
                  <a:lnTo>
                    <a:pt x="330" y="1260096"/>
                  </a:lnTo>
                  <a:lnTo>
                    <a:pt x="0" y="1256743"/>
                  </a:lnTo>
                  <a:lnTo>
                    <a:pt x="0" y="1253357"/>
                  </a:lnTo>
                  <a:close/>
                </a:path>
              </a:pathLst>
            </a:custGeom>
            <a:ln w="19049">
              <a:solidFill>
                <a:srgbClr val="D5CC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78929" y="3515836"/>
            <a:ext cx="3013075" cy="9328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00" spc="-80">
                <a:solidFill>
                  <a:srgbClr val="2A3440"/>
                </a:solidFill>
                <a:latin typeface="Verdana"/>
                <a:cs typeface="Verdana"/>
              </a:rPr>
              <a:t>Delta</a:t>
            </a:r>
            <a:r>
              <a:rPr dirty="0" sz="1600" spc="-204">
                <a:solidFill>
                  <a:srgbClr val="2A3440"/>
                </a:solidFill>
                <a:latin typeface="Verdana"/>
                <a:cs typeface="Verdana"/>
              </a:rPr>
              <a:t> </a:t>
            </a:r>
            <a:r>
              <a:rPr dirty="0" sz="1600" spc="-90">
                <a:solidFill>
                  <a:srgbClr val="2A3440"/>
                </a:solidFill>
                <a:latin typeface="Verdana"/>
                <a:cs typeface="Verdana"/>
              </a:rPr>
              <a:t>&amp;</a:t>
            </a:r>
            <a:r>
              <a:rPr dirty="0" sz="1600" spc="-200">
                <a:solidFill>
                  <a:srgbClr val="2A3440"/>
                </a:solidFill>
                <a:latin typeface="Verdana"/>
                <a:cs typeface="Verdana"/>
              </a:rPr>
              <a:t> </a:t>
            </a:r>
            <a:r>
              <a:rPr dirty="0" sz="1600" spc="-10">
                <a:solidFill>
                  <a:srgbClr val="2A3440"/>
                </a:solidFill>
                <a:latin typeface="Verdana"/>
                <a:cs typeface="Verdana"/>
              </a:rPr>
              <a:t>United</a:t>
            </a:r>
            <a:endParaRPr sz="1600">
              <a:latin typeface="Verdana"/>
              <a:cs typeface="Verdana"/>
            </a:endParaRPr>
          </a:p>
          <a:p>
            <a:pPr marL="12700" marR="5080">
              <a:lnSpc>
                <a:spcPct val="129600"/>
              </a:lnSpc>
              <a:spcBef>
                <a:spcPts val="1000"/>
              </a:spcBef>
            </a:pPr>
            <a:r>
              <a:rPr dirty="0" sz="1350">
                <a:solidFill>
                  <a:srgbClr val="2A3440"/>
                </a:solidFill>
                <a:latin typeface="Tahoma"/>
                <a:cs typeface="Tahoma"/>
              </a:rPr>
              <a:t>Strong</a:t>
            </a:r>
            <a:r>
              <a:rPr dirty="0" sz="1350" spc="-9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A3440"/>
                </a:solidFill>
                <a:latin typeface="Tahoma"/>
                <a:cs typeface="Tahoma"/>
              </a:rPr>
              <a:t>competitive</a:t>
            </a:r>
            <a:r>
              <a:rPr dirty="0" sz="1350" spc="-9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A3440"/>
                </a:solidFill>
                <a:latin typeface="Tahoma"/>
                <a:cs typeface="Tahoma"/>
              </a:rPr>
              <a:t>positions</a:t>
            </a:r>
            <a:r>
              <a:rPr dirty="0" sz="1350" spc="-9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A3440"/>
                </a:solidFill>
                <a:latin typeface="Tahoma"/>
                <a:cs typeface="Tahoma"/>
              </a:rPr>
              <a:t>with</a:t>
            </a:r>
            <a:r>
              <a:rPr dirty="0" sz="1350" spc="-9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A3440"/>
                </a:solidFill>
                <a:latin typeface="Tahoma"/>
                <a:cs typeface="Tahoma"/>
              </a:rPr>
              <a:t>broad </a:t>
            </a:r>
            <a:r>
              <a:rPr dirty="0" sz="1350">
                <a:solidFill>
                  <a:srgbClr val="2A3440"/>
                </a:solidFill>
                <a:latin typeface="Tahoma"/>
                <a:cs typeface="Tahoma"/>
              </a:rPr>
              <a:t>domestic</a:t>
            </a:r>
            <a:r>
              <a:rPr dirty="0" sz="1350" spc="-7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A3440"/>
                </a:solidFill>
                <a:latin typeface="Tahoma"/>
                <a:cs typeface="Tahoma"/>
              </a:rPr>
              <a:t>and</a:t>
            </a:r>
            <a:r>
              <a:rPr dirty="0" sz="1350" spc="-6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A3440"/>
                </a:solidFill>
                <a:latin typeface="Tahoma"/>
                <a:cs typeface="Tahoma"/>
              </a:rPr>
              <a:t>international</a:t>
            </a:r>
            <a:r>
              <a:rPr dirty="0" sz="1350" spc="-6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A3440"/>
                </a:solidFill>
                <a:latin typeface="Tahoma"/>
                <a:cs typeface="Tahoma"/>
              </a:rPr>
              <a:t>networks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6824" y="2105025"/>
            <a:ext cx="5991224" cy="3390899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695324" y="4819649"/>
            <a:ext cx="3505200" cy="1314450"/>
            <a:chOff x="695324" y="4819649"/>
            <a:chExt cx="3505200" cy="1314450"/>
          </a:xfrm>
        </p:grpSpPr>
        <p:sp>
          <p:nvSpPr>
            <p:cNvPr id="12" name="object 12"/>
            <p:cNvSpPr/>
            <p:nvPr/>
          </p:nvSpPr>
          <p:spPr>
            <a:xfrm>
              <a:off x="704849" y="4829174"/>
              <a:ext cx="3486150" cy="1295400"/>
            </a:xfrm>
            <a:custGeom>
              <a:avLst/>
              <a:gdLst/>
              <a:ahLst/>
              <a:cxnLst/>
              <a:rect l="l" t="t" r="r" b="b"/>
              <a:pathLst>
                <a:path w="3486150" h="1295400">
                  <a:moveTo>
                    <a:pt x="3437968" y="1295399"/>
                  </a:moveTo>
                  <a:lnTo>
                    <a:pt x="48181" y="1295399"/>
                  </a:lnTo>
                  <a:lnTo>
                    <a:pt x="44827" y="1295069"/>
                  </a:lnTo>
                  <a:lnTo>
                    <a:pt x="10571" y="1275297"/>
                  </a:lnTo>
                  <a:lnTo>
                    <a:pt x="0" y="1247217"/>
                  </a:lnTo>
                  <a:lnTo>
                    <a:pt x="0" y="1243832"/>
                  </a:lnTo>
                  <a:lnTo>
                    <a:pt x="0" y="48180"/>
                  </a:lnTo>
                  <a:lnTo>
                    <a:pt x="17497" y="12709"/>
                  </a:lnTo>
                  <a:lnTo>
                    <a:pt x="48181" y="0"/>
                  </a:lnTo>
                  <a:lnTo>
                    <a:pt x="3437968" y="0"/>
                  </a:lnTo>
                  <a:lnTo>
                    <a:pt x="3473439" y="17497"/>
                  </a:lnTo>
                  <a:lnTo>
                    <a:pt x="3486149" y="48180"/>
                  </a:lnTo>
                  <a:lnTo>
                    <a:pt x="3486149" y="1247217"/>
                  </a:lnTo>
                  <a:lnTo>
                    <a:pt x="3468651" y="1282689"/>
                  </a:lnTo>
                  <a:lnTo>
                    <a:pt x="3441322" y="1295069"/>
                  </a:lnTo>
                  <a:lnTo>
                    <a:pt x="3437968" y="1295399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04849" y="4829174"/>
              <a:ext cx="3486150" cy="1295400"/>
            </a:xfrm>
            <a:custGeom>
              <a:avLst/>
              <a:gdLst/>
              <a:ahLst/>
              <a:cxnLst/>
              <a:rect l="l" t="t" r="r" b="b"/>
              <a:pathLst>
                <a:path w="3486150" h="1295400">
                  <a:moveTo>
                    <a:pt x="0" y="1243832"/>
                  </a:moveTo>
                  <a:lnTo>
                    <a:pt x="0" y="51567"/>
                  </a:lnTo>
                  <a:lnTo>
                    <a:pt x="0" y="48180"/>
                  </a:lnTo>
                  <a:lnTo>
                    <a:pt x="330" y="44827"/>
                  </a:lnTo>
                  <a:lnTo>
                    <a:pt x="990" y="41506"/>
                  </a:lnTo>
                  <a:lnTo>
                    <a:pt x="1651" y="38185"/>
                  </a:lnTo>
                  <a:lnTo>
                    <a:pt x="2629" y="34960"/>
                  </a:lnTo>
                  <a:lnTo>
                    <a:pt x="3925" y="31832"/>
                  </a:lnTo>
                  <a:lnTo>
                    <a:pt x="5221" y="28704"/>
                  </a:lnTo>
                  <a:lnTo>
                    <a:pt x="6809" y="25732"/>
                  </a:lnTo>
                  <a:lnTo>
                    <a:pt x="8690" y="22917"/>
                  </a:lnTo>
                  <a:lnTo>
                    <a:pt x="10571" y="20101"/>
                  </a:lnTo>
                  <a:lnTo>
                    <a:pt x="12709" y="17497"/>
                  </a:lnTo>
                  <a:lnTo>
                    <a:pt x="15103" y="15103"/>
                  </a:lnTo>
                  <a:lnTo>
                    <a:pt x="17497" y="12709"/>
                  </a:lnTo>
                  <a:lnTo>
                    <a:pt x="20102" y="10571"/>
                  </a:lnTo>
                  <a:lnTo>
                    <a:pt x="22917" y="8690"/>
                  </a:lnTo>
                  <a:lnTo>
                    <a:pt x="25733" y="6808"/>
                  </a:lnTo>
                  <a:lnTo>
                    <a:pt x="28704" y="5220"/>
                  </a:lnTo>
                  <a:lnTo>
                    <a:pt x="31833" y="3924"/>
                  </a:lnTo>
                  <a:lnTo>
                    <a:pt x="34961" y="2629"/>
                  </a:lnTo>
                  <a:lnTo>
                    <a:pt x="38185" y="1651"/>
                  </a:lnTo>
                  <a:lnTo>
                    <a:pt x="41506" y="990"/>
                  </a:lnTo>
                  <a:lnTo>
                    <a:pt x="44827" y="330"/>
                  </a:lnTo>
                  <a:lnTo>
                    <a:pt x="48181" y="0"/>
                  </a:lnTo>
                  <a:lnTo>
                    <a:pt x="51567" y="0"/>
                  </a:lnTo>
                  <a:lnTo>
                    <a:pt x="3434582" y="0"/>
                  </a:lnTo>
                  <a:lnTo>
                    <a:pt x="3437968" y="0"/>
                  </a:lnTo>
                  <a:lnTo>
                    <a:pt x="3441322" y="330"/>
                  </a:lnTo>
                  <a:lnTo>
                    <a:pt x="3444642" y="990"/>
                  </a:lnTo>
                  <a:lnTo>
                    <a:pt x="3447963" y="1651"/>
                  </a:lnTo>
                  <a:lnTo>
                    <a:pt x="3451188" y="2629"/>
                  </a:lnTo>
                  <a:lnTo>
                    <a:pt x="3454316" y="3925"/>
                  </a:lnTo>
                  <a:lnTo>
                    <a:pt x="3457444" y="5220"/>
                  </a:lnTo>
                  <a:lnTo>
                    <a:pt x="3460416" y="6809"/>
                  </a:lnTo>
                  <a:lnTo>
                    <a:pt x="3463231" y="8690"/>
                  </a:lnTo>
                  <a:lnTo>
                    <a:pt x="3466046" y="10571"/>
                  </a:lnTo>
                  <a:lnTo>
                    <a:pt x="3468651" y="12709"/>
                  </a:lnTo>
                  <a:lnTo>
                    <a:pt x="3471045" y="15103"/>
                  </a:lnTo>
                  <a:lnTo>
                    <a:pt x="3473439" y="17497"/>
                  </a:lnTo>
                  <a:lnTo>
                    <a:pt x="3475577" y="20101"/>
                  </a:lnTo>
                  <a:lnTo>
                    <a:pt x="3477458" y="22917"/>
                  </a:lnTo>
                  <a:lnTo>
                    <a:pt x="3479339" y="25732"/>
                  </a:lnTo>
                  <a:lnTo>
                    <a:pt x="3480928" y="28704"/>
                  </a:lnTo>
                  <a:lnTo>
                    <a:pt x="3482223" y="31832"/>
                  </a:lnTo>
                  <a:lnTo>
                    <a:pt x="3483519" y="34960"/>
                  </a:lnTo>
                  <a:lnTo>
                    <a:pt x="3484497" y="38185"/>
                  </a:lnTo>
                  <a:lnTo>
                    <a:pt x="3485158" y="41506"/>
                  </a:lnTo>
                  <a:lnTo>
                    <a:pt x="3485818" y="44827"/>
                  </a:lnTo>
                  <a:lnTo>
                    <a:pt x="3486149" y="48180"/>
                  </a:lnTo>
                  <a:lnTo>
                    <a:pt x="3486149" y="51567"/>
                  </a:lnTo>
                  <a:lnTo>
                    <a:pt x="3486149" y="1243832"/>
                  </a:lnTo>
                  <a:lnTo>
                    <a:pt x="3486149" y="1247217"/>
                  </a:lnTo>
                  <a:lnTo>
                    <a:pt x="3485818" y="1250571"/>
                  </a:lnTo>
                  <a:lnTo>
                    <a:pt x="3485158" y="1253892"/>
                  </a:lnTo>
                  <a:lnTo>
                    <a:pt x="3484497" y="1257213"/>
                  </a:lnTo>
                  <a:lnTo>
                    <a:pt x="3483519" y="1260437"/>
                  </a:lnTo>
                  <a:lnTo>
                    <a:pt x="3482223" y="1263565"/>
                  </a:lnTo>
                  <a:lnTo>
                    <a:pt x="3480928" y="1266694"/>
                  </a:lnTo>
                  <a:lnTo>
                    <a:pt x="3454316" y="1291473"/>
                  </a:lnTo>
                  <a:lnTo>
                    <a:pt x="3451188" y="1292769"/>
                  </a:lnTo>
                  <a:lnTo>
                    <a:pt x="3434582" y="1295399"/>
                  </a:lnTo>
                  <a:lnTo>
                    <a:pt x="51567" y="1295399"/>
                  </a:lnTo>
                  <a:lnTo>
                    <a:pt x="15103" y="1280296"/>
                  </a:lnTo>
                  <a:lnTo>
                    <a:pt x="8690" y="1272481"/>
                  </a:lnTo>
                  <a:lnTo>
                    <a:pt x="6809" y="1269666"/>
                  </a:lnTo>
                  <a:lnTo>
                    <a:pt x="0" y="1247217"/>
                  </a:lnTo>
                  <a:lnTo>
                    <a:pt x="0" y="1243832"/>
                  </a:lnTo>
                  <a:close/>
                </a:path>
              </a:pathLst>
            </a:custGeom>
            <a:ln w="19049">
              <a:solidFill>
                <a:srgbClr val="D5CC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78929" y="4992211"/>
            <a:ext cx="2682875" cy="9328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00" spc="-60">
                <a:solidFill>
                  <a:srgbClr val="2A3440"/>
                </a:solidFill>
                <a:latin typeface="Verdana"/>
                <a:cs typeface="Verdana"/>
              </a:rPr>
              <a:t>Regional</a:t>
            </a:r>
            <a:r>
              <a:rPr dirty="0" sz="1600" spc="-145">
                <a:solidFill>
                  <a:srgbClr val="2A3440"/>
                </a:solidFill>
                <a:latin typeface="Verdana"/>
                <a:cs typeface="Verdana"/>
              </a:rPr>
              <a:t> </a:t>
            </a:r>
            <a:r>
              <a:rPr dirty="0" sz="1600" spc="-10">
                <a:solidFill>
                  <a:srgbClr val="2A3440"/>
                </a:solidFill>
                <a:latin typeface="Verdana"/>
                <a:cs typeface="Verdana"/>
              </a:rPr>
              <a:t>Carriers</a:t>
            </a:r>
            <a:endParaRPr sz="1600">
              <a:latin typeface="Verdana"/>
              <a:cs typeface="Verdana"/>
            </a:endParaRPr>
          </a:p>
          <a:p>
            <a:pPr marL="12700" marR="5080">
              <a:lnSpc>
                <a:spcPct val="129600"/>
              </a:lnSpc>
              <a:spcBef>
                <a:spcPts val="1000"/>
              </a:spcBef>
            </a:pPr>
            <a:r>
              <a:rPr dirty="0" sz="1350">
                <a:solidFill>
                  <a:srgbClr val="2A3440"/>
                </a:solidFill>
                <a:latin typeface="Tahoma"/>
                <a:cs typeface="Tahoma"/>
              </a:rPr>
              <a:t>Niche</a:t>
            </a:r>
            <a:r>
              <a:rPr dirty="0" sz="1350" spc="-8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A3440"/>
                </a:solidFill>
                <a:latin typeface="Tahoma"/>
                <a:cs typeface="Tahoma"/>
              </a:rPr>
              <a:t>market</a:t>
            </a:r>
            <a:r>
              <a:rPr dirty="0" sz="1350" spc="-7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A3440"/>
                </a:solidFill>
                <a:latin typeface="Tahoma"/>
                <a:cs typeface="Tahoma"/>
              </a:rPr>
              <a:t>specialization</a:t>
            </a:r>
            <a:r>
              <a:rPr dirty="0" sz="1350" spc="-8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A3440"/>
                </a:solidFill>
                <a:latin typeface="Tahoma"/>
                <a:cs typeface="Tahoma"/>
              </a:rPr>
              <a:t>serving </a:t>
            </a:r>
            <a:r>
              <a:rPr dirty="0" sz="1350">
                <a:solidFill>
                  <a:srgbClr val="2A3440"/>
                </a:solidFill>
                <a:latin typeface="Tahoma"/>
                <a:cs typeface="Tahoma"/>
              </a:rPr>
              <a:t>underserved</a:t>
            </a:r>
            <a:r>
              <a:rPr dirty="0" sz="1350" spc="-125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A3440"/>
                </a:solidFill>
                <a:latin typeface="Tahoma"/>
                <a:cs typeface="Tahoma"/>
              </a:rPr>
              <a:t>routes</a:t>
            </a:r>
            <a:r>
              <a:rPr dirty="0" sz="1350" spc="-120">
                <a:solidFill>
                  <a:srgbClr val="2A3440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A3440"/>
                </a:solidFill>
                <a:latin typeface="Tahoma"/>
                <a:cs typeface="Tahoma"/>
              </a:rPr>
              <a:t>effectively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16" name="object 16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14861" y="1861153"/>
            <a:ext cx="4297045" cy="588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700" spc="-60" b="1">
                <a:latin typeface="Tahoma"/>
                <a:cs typeface="Tahoma"/>
              </a:rPr>
              <a:t>Recommendations</a:t>
            </a:r>
            <a:endParaRPr sz="37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424" y="2981324"/>
            <a:ext cx="66675" cy="666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424" y="3371849"/>
            <a:ext cx="66675" cy="666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424" y="3762374"/>
            <a:ext cx="66675" cy="666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424" y="4467224"/>
            <a:ext cx="66675" cy="6667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045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110" b="1">
                <a:latin typeface="Tahoma"/>
                <a:cs typeface="Tahoma"/>
              </a:rPr>
              <a:t>Optimize</a:t>
            </a:r>
            <a:r>
              <a:rPr dirty="0" spc="-105" b="1">
                <a:latin typeface="Tahoma"/>
                <a:cs typeface="Tahoma"/>
              </a:rPr>
              <a:t> </a:t>
            </a:r>
            <a:r>
              <a:rPr dirty="0" spc="-100" b="1">
                <a:latin typeface="Tahoma"/>
                <a:cs typeface="Tahoma"/>
              </a:rPr>
              <a:t>Flight</a:t>
            </a:r>
            <a:r>
              <a:rPr dirty="0" spc="-105" b="1">
                <a:latin typeface="Tahoma"/>
                <a:cs typeface="Tahoma"/>
              </a:rPr>
              <a:t> </a:t>
            </a:r>
            <a:r>
              <a:rPr dirty="0" spc="-114" b="1">
                <a:latin typeface="Tahoma"/>
                <a:cs typeface="Tahoma"/>
              </a:rPr>
              <a:t>Routes</a:t>
            </a:r>
            <a:r>
              <a:rPr dirty="0" spc="-114"/>
              <a:t>:</a:t>
            </a:r>
            <a:r>
              <a:rPr dirty="0" spc="-110"/>
              <a:t> </a:t>
            </a:r>
            <a:r>
              <a:rPr dirty="0"/>
              <a:t>Utilize</a:t>
            </a:r>
            <a:r>
              <a:rPr dirty="0" spc="-110"/>
              <a:t> </a:t>
            </a:r>
            <a:r>
              <a:rPr dirty="0"/>
              <a:t>insights</a:t>
            </a:r>
            <a:r>
              <a:rPr dirty="0" spc="-110"/>
              <a:t> </a:t>
            </a:r>
            <a:r>
              <a:rPr dirty="0"/>
              <a:t>from</a:t>
            </a:r>
            <a:r>
              <a:rPr dirty="0" spc="-110"/>
              <a:t> </a:t>
            </a:r>
            <a:r>
              <a:rPr dirty="0"/>
              <a:t>top</a:t>
            </a:r>
            <a:r>
              <a:rPr dirty="0" spc="-110"/>
              <a:t> </a:t>
            </a:r>
            <a:r>
              <a:rPr dirty="0"/>
              <a:t>routes</a:t>
            </a:r>
            <a:r>
              <a:rPr dirty="0" spc="-110"/>
              <a:t> </a:t>
            </a:r>
            <a:r>
              <a:rPr dirty="0"/>
              <a:t>and</a:t>
            </a:r>
            <a:r>
              <a:rPr dirty="0" spc="-110"/>
              <a:t> </a:t>
            </a:r>
            <a:r>
              <a:rPr dirty="0"/>
              <a:t>flights</a:t>
            </a:r>
            <a:r>
              <a:rPr dirty="0" spc="-110"/>
              <a:t> </a:t>
            </a:r>
            <a:r>
              <a:rPr dirty="0"/>
              <a:t>to</a:t>
            </a:r>
            <a:r>
              <a:rPr dirty="0" spc="-110"/>
              <a:t> </a:t>
            </a:r>
            <a:r>
              <a:rPr dirty="0"/>
              <a:t>optimize</a:t>
            </a:r>
            <a:r>
              <a:rPr dirty="0" spc="-110"/>
              <a:t> </a:t>
            </a:r>
            <a:r>
              <a:rPr dirty="0"/>
              <a:t>schedules</a:t>
            </a:r>
            <a:r>
              <a:rPr dirty="0" spc="-110"/>
              <a:t> </a:t>
            </a:r>
            <a:r>
              <a:rPr dirty="0"/>
              <a:t>and</a:t>
            </a:r>
            <a:r>
              <a:rPr dirty="0" spc="-110"/>
              <a:t> </a:t>
            </a:r>
            <a:r>
              <a:rPr dirty="0"/>
              <a:t>resource</a:t>
            </a:r>
            <a:r>
              <a:rPr dirty="0" spc="-110"/>
              <a:t> </a:t>
            </a:r>
            <a:r>
              <a:rPr dirty="0" spc="-10"/>
              <a:t>allocation.</a:t>
            </a: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dirty="0" spc="-100" b="1">
                <a:latin typeface="Tahoma"/>
                <a:cs typeface="Tahoma"/>
              </a:rPr>
              <a:t>Enhance</a:t>
            </a:r>
            <a:r>
              <a:rPr dirty="0" spc="-110" b="1">
                <a:latin typeface="Tahoma"/>
                <a:cs typeface="Tahoma"/>
              </a:rPr>
              <a:t> Load</a:t>
            </a:r>
            <a:r>
              <a:rPr dirty="0" spc="-105" b="1">
                <a:latin typeface="Tahoma"/>
                <a:cs typeface="Tahoma"/>
              </a:rPr>
              <a:t> Factor:</a:t>
            </a:r>
            <a:r>
              <a:rPr dirty="0" spc="-80" b="1">
                <a:latin typeface="Tahoma"/>
                <a:cs typeface="Tahoma"/>
              </a:rPr>
              <a:t> </a:t>
            </a:r>
            <a:r>
              <a:rPr dirty="0" spc="-20"/>
              <a:t>Leverage</a:t>
            </a:r>
            <a:r>
              <a:rPr dirty="0" spc="-110"/>
              <a:t> </a:t>
            </a:r>
            <a:r>
              <a:rPr dirty="0"/>
              <a:t>load</a:t>
            </a:r>
            <a:r>
              <a:rPr dirty="0" spc="-114"/>
              <a:t> </a:t>
            </a:r>
            <a:r>
              <a:rPr dirty="0"/>
              <a:t>factor</a:t>
            </a:r>
            <a:r>
              <a:rPr dirty="0" spc="-110"/>
              <a:t> </a:t>
            </a:r>
            <a:r>
              <a:rPr dirty="0" spc="-10"/>
              <a:t>analysis</a:t>
            </a:r>
            <a:r>
              <a:rPr dirty="0" spc="-110"/>
              <a:t> </a:t>
            </a:r>
            <a:r>
              <a:rPr dirty="0"/>
              <a:t>to</a:t>
            </a:r>
            <a:r>
              <a:rPr dirty="0" spc="-110"/>
              <a:t> </a:t>
            </a:r>
            <a:r>
              <a:rPr dirty="0" spc="-10"/>
              <a:t>identify</a:t>
            </a:r>
            <a:r>
              <a:rPr dirty="0" spc="-114"/>
              <a:t> </a:t>
            </a:r>
            <a:r>
              <a:rPr dirty="0"/>
              <a:t>trends</a:t>
            </a:r>
            <a:r>
              <a:rPr dirty="0" spc="-110"/>
              <a:t> </a:t>
            </a:r>
            <a:r>
              <a:rPr dirty="0"/>
              <a:t>and</a:t>
            </a:r>
            <a:r>
              <a:rPr dirty="0" spc="-110"/>
              <a:t> </a:t>
            </a:r>
            <a:r>
              <a:rPr dirty="0"/>
              <a:t>implement</a:t>
            </a:r>
            <a:r>
              <a:rPr dirty="0" spc="-110"/>
              <a:t> </a:t>
            </a:r>
            <a:r>
              <a:rPr dirty="0" spc="-10"/>
              <a:t>strategies</a:t>
            </a:r>
            <a:r>
              <a:rPr dirty="0" spc="-114"/>
              <a:t> </a:t>
            </a:r>
            <a:r>
              <a:rPr dirty="0"/>
              <a:t>for</a:t>
            </a:r>
            <a:r>
              <a:rPr dirty="0" spc="-110"/>
              <a:t> </a:t>
            </a:r>
            <a:r>
              <a:rPr dirty="0"/>
              <a:t>increased</a:t>
            </a:r>
            <a:r>
              <a:rPr dirty="0" spc="-110"/>
              <a:t> </a:t>
            </a:r>
            <a:r>
              <a:rPr dirty="0" spc="-10"/>
              <a:t>efficiency.</a:t>
            </a:r>
          </a:p>
          <a:p>
            <a:pPr marL="12700" marR="42545">
              <a:lnSpc>
                <a:spcPct val="133100"/>
              </a:lnSpc>
              <a:spcBef>
                <a:spcPts val="600"/>
              </a:spcBef>
            </a:pPr>
            <a:r>
              <a:rPr dirty="0" spc="-105" b="1">
                <a:latin typeface="Tahoma"/>
                <a:cs typeface="Tahoma"/>
              </a:rPr>
              <a:t>Strategic</a:t>
            </a:r>
            <a:r>
              <a:rPr dirty="0" spc="-95" b="1">
                <a:latin typeface="Tahoma"/>
                <a:cs typeface="Tahoma"/>
              </a:rPr>
              <a:t> Carrier </a:t>
            </a:r>
            <a:r>
              <a:rPr dirty="0" spc="-110" b="1">
                <a:latin typeface="Tahoma"/>
                <a:cs typeface="Tahoma"/>
              </a:rPr>
              <a:t>Partnerships:</a:t>
            </a:r>
            <a:r>
              <a:rPr dirty="0" spc="-85" b="1">
                <a:latin typeface="Tahoma"/>
                <a:cs typeface="Tahoma"/>
              </a:rPr>
              <a:t> </a:t>
            </a:r>
            <a:r>
              <a:rPr dirty="0"/>
              <a:t>Collaborate</a:t>
            </a:r>
            <a:r>
              <a:rPr dirty="0" spc="-100"/>
              <a:t> </a:t>
            </a:r>
            <a:r>
              <a:rPr dirty="0"/>
              <a:t>with</a:t>
            </a:r>
            <a:r>
              <a:rPr dirty="0" spc="-100"/>
              <a:t> </a:t>
            </a:r>
            <a:r>
              <a:rPr dirty="0"/>
              <a:t>top</a:t>
            </a:r>
            <a:r>
              <a:rPr dirty="0" spc="-95"/>
              <a:t> </a:t>
            </a:r>
            <a:r>
              <a:rPr dirty="0"/>
              <a:t>carriers</a:t>
            </a:r>
            <a:r>
              <a:rPr dirty="0" spc="-100"/>
              <a:t> </a:t>
            </a:r>
            <a:r>
              <a:rPr dirty="0"/>
              <a:t>to</a:t>
            </a:r>
            <a:r>
              <a:rPr dirty="0" spc="-100"/>
              <a:t> </a:t>
            </a:r>
            <a:r>
              <a:rPr dirty="0" spc="-10"/>
              <a:t>maximize</a:t>
            </a:r>
            <a:r>
              <a:rPr dirty="0" spc="-95"/>
              <a:t> </a:t>
            </a:r>
            <a:r>
              <a:rPr dirty="0"/>
              <a:t>passenger</a:t>
            </a:r>
            <a:r>
              <a:rPr dirty="0" spc="-100"/>
              <a:t> </a:t>
            </a:r>
            <a:r>
              <a:rPr dirty="0" spc="-10"/>
              <a:t>transportation</a:t>
            </a:r>
            <a:r>
              <a:rPr dirty="0" spc="-100"/>
              <a:t> </a:t>
            </a:r>
            <a:r>
              <a:rPr dirty="0"/>
              <a:t>and</a:t>
            </a:r>
            <a:r>
              <a:rPr dirty="0" spc="-95"/>
              <a:t> </a:t>
            </a:r>
            <a:r>
              <a:rPr dirty="0"/>
              <a:t>enhance</a:t>
            </a:r>
            <a:r>
              <a:rPr dirty="0" spc="-100"/>
              <a:t> </a:t>
            </a:r>
            <a:r>
              <a:rPr dirty="0" spc="-10"/>
              <a:t>overall performance.</a:t>
            </a:r>
          </a:p>
          <a:p>
            <a:pPr marL="12700" marR="5080">
              <a:lnSpc>
                <a:spcPct val="137100"/>
              </a:lnSpc>
              <a:spcBef>
                <a:spcPts val="525"/>
              </a:spcBef>
            </a:pPr>
            <a:r>
              <a:rPr dirty="0" spc="-100" b="1">
                <a:latin typeface="Tahoma"/>
                <a:cs typeface="Tahoma"/>
              </a:rPr>
              <a:t>Resource</a:t>
            </a:r>
            <a:r>
              <a:rPr dirty="0" spc="-90" b="1">
                <a:latin typeface="Tahoma"/>
                <a:cs typeface="Tahoma"/>
              </a:rPr>
              <a:t> </a:t>
            </a:r>
            <a:r>
              <a:rPr dirty="0" spc="-110" b="1">
                <a:latin typeface="Tahoma"/>
                <a:cs typeface="Tahoma"/>
              </a:rPr>
              <a:t>allocation:</a:t>
            </a:r>
            <a:r>
              <a:rPr dirty="0" spc="-80" b="1">
                <a:latin typeface="Tahoma"/>
                <a:cs typeface="Tahoma"/>
              </a:rPr>
              <a:t> </a:t>
            </a:r>
            <a:r>
              <a:rPr dirty="0"/>
              <a:t>Allocate</a:t>
            </a:r>
            <a:r>
              <a:rPr dirty="0" spc="-95"/>
              <a:t> </a:t>
            </a:r>
            <a:r>
              <a:rPr dirty="0"/>
              <a:t>resources</a:t>
            </a:r>
            <a:r>
              <a:rPr dirty="0" spc="-90"/>
              <a:t> </a:t>
            </a:r>
            <a:r>
              <a:rPr dirty="0" spc="-10"/>
              <a:t>strategically</a:t>
            </a:r>
            <a:r>
              <a:rPr dirty="0" spc="-90"/>
              <a:t> </a:t>
            </a:r>
            <a:r>
              <a:rPr dirty="0"/>
              <a:t>based</a:t>
            </a:r>
            <a:r>
              <a:rPr dirty="0" spc="-95"/>
              <a:t> </a:t>
            </a:r>
            <a:r>
              <a:rPr dirty="0"/>
              <a:t>on</a:t>
            </a:r>
            <a:r>
              <a:rPr dirty="0" spc="-90"/>
              <a:t> </a:t>
            </a:r>
            <a:r>
              <a:rPr dirty="0"/>
              <a:t>flight</a:t>
            </a:r>
            <a:r>
              <a:rPr dirty="0" spc="-90"/>
              <a:t> </a:t>
            </a:r>
            <a:r>
              <a:rPr dirty="0"/>
              <a:t>schedules</a:t>
            </a:r>
            <a:r>
              <a:rPr dirty="0" spc="-95"/>
              <a:t> </a:t>
            </a:r>
            <a:r>
              <a:rPr dirty="0"/>
              <a:t>and</a:t>
            </a:r>
            <a:r>
              <a:rPr dirty="0" spc="-90"/>
              <a:t> </a:t>
            </a:r>
            <a:r>
              <a:rPr dirty="0"/>
              <a:t>passenger</a:t>
            </a:r>
            <a:r>
              <a:rPr dirty="0" spc="-95"/>
              <a:t> </a:t>
            </a:r>
            <a:r>
              <a:rPr dirty="0"/>
              <a:t>volume</a:t>
            </a:r>
            <a:r>
              <a:rPr dirty="0" spc="-90"/>
              <a:t> </a:t>
            </a:r>
            <a:r>
              <a:rPr dirty="0" spc="-50"/>
              <a:t>data.This</a:t>
            </a:r>
            <a:r>
              <a:rPr dirty="0" spc="-90"/>
              <a:t> </a:t>
            </a:r>
            <a:r>
              <a:rPr dirty="0" spc="-10"/>
              <a:t>ensures </a:t>
            </a:r>
            <a:r>
              <a:rPr dirty="0"/>
              <a:t>efficient</a:t>
            </a:r>
            <a:r>
              <a:rPr dirty="0" spc="-114"/>
              <a:t> </a:t>
            </a:r>
            <a:r>
              <a:rPr dirty="0"/>
              <a:t>operations</a:t>
            </a:r>
            <a:r>
              <a:rPr dirty="0" spc="-110"/>
              <a:t> </a:t>
            </a:r>
            <a:r>
              <a:rPr dirty="0"/>
              <a:t>and</a:t>
            </a:r>
            <a:r>
              <a:rPr dirty="0" spc="-110"/>
              <a:t> </a:t>
            </a:r>
            <a:r>
              <a:rPr dirty="0"/>
              <a:t>minimizes</a:t>
            </a:r>
            <a:r>
              <a:rPr dirty="0" spc="-110"/>
              <a:t> </a:t>
            </a:r>
            <a:r>
              <a:rPr dirty="0" spc="-10"/>
              <a:t>wait</a:t>
            </a:r>
            <a:r>
              <a:rPr dirty="0" spc="-110"/>
              <a:t> </a:t>
            </a:r>
            <a:r>
              <a:rPr dirty="0"/>
              <a:t>times</a:t>
            </a:r>
            <a:r>
              <a:rPr dirty="0" spc="-110"/>
              <a:t> </a:t>
            </a:r>
            <a:r>
              <a:rPr dirty="0" spc="-10"/>
              <a:t>at</a:t>
            </a:r>
            <a:r>
              <a:rPr dirty="0" spc="-110"/>
              <a:t> </a:t>
            </a:r>
            <a:r>
              <a:rPr dirty="0"/>
              <a:t>Airports</a:t>
            </a:r>
            <a:r>
              <a:rPr dirty="0" spc="-110"/>
              <a:t> </a:t>
            </a:r>
            <a:r>
              <a:rPr dirty="0"/>
              <a:t>with</a:t>
            </a:r>
            <a:r>
              <a:rPr dirty="0" spc="-110"/>
              <a:t> </a:t>
            </a:r>
            <a:r>
              <a:rPr dirty="0"/>
              <a:t>passenger</a:t>
            </a:r>
            <a:r>
              <a:rPr dirty="0" spc="-110"/>
              <a:t> </a:t>
            </a:r>
            <a:r>
              <a:rPr dirty="0" spc="-10"/>
              <a:t>traffic.</a:t>
            </a:r>
          </a:p>
        </p:txBody>
      </p:sp>
      <p:pic>
        <p:nvPicPr>
          <p:cNvPr id="8" name="object 8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08872" y="2280253"/>
            <a:ext cx="2522855" cy="588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700" spc="-55" b="1">
                <a:latin typeface="Tahoma"/>
                <a:cs typeface="Tahoma"/>
              </a:rPr>
              <a:t>Conclusion</a:t>
            </a:r>
            <a:endParaRPr sz="37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452" y="3227590"/>
            <a:ext cx="10752455" cy="129222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34400"/>
              </a:lnSpc>
              <a:spcBef>
                <a:spcPts val="70"/>
              </a:spcBef>
            </a:pP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High</a:t>
            </a:r>
            <a:r>
              <a:rPr dirty="0" sz="1550" spc="-10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Cloud</a:t>
            </a:r>
            <a:r>
              <a:rPr dirty="0" sz="1550" spc="-10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41C3A"/>
                </a:solidFill>
                <a:latin typeface="Tahoma"/>
                <a:cs typeface="Tahoma"/>
              </a:rPr>
              <a:t>Analysis</a:t>
            </a:r>
            <a:r>
              <a:rPr dirty="0" sz="1550" spc="-10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empowers</a:t>
            </a:r>
            <a:r>
              <a:rPr dirty="0" sz="1550" spc="-10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the</a:t>
            </a:r>
            <a:r>
              <a:rPr dirty="0" sz="1550" spc="-10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041C3A"/>
                </a:solidFill>
                <a:latin typeface="Tahoma"/>
                <a:cs typeface="Tahoma"/>
              </a:rPr>
              <a:t>aviation</a:t>
            </a:r>
            <a:r>
              <a:rPr dirty="0" sz="1550" spc="-10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industry</a:t>
            </a:r>
            <a:r>
              <a:rPr dirty="0" sz="1550" spc="-10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with</a:t>
            </a:r>
            <a:r>
              <a:rPr dirty="0" sz="1550" spc="-10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actionable</a:t>
            </a:r>
            <a:r>
              <a:rPr dirty="0" sz="1550" spc="-10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41C3A"/>
                </a:solidFill>
                <a:latin typeface="Tahoma"/>
                <a:cs typeface="Tahoma"/>
              </a:rPr>
              <a:t>insights,fostering</a:t>
            </a:r>
            <a:r>
              <a:rPr dirty="0" sz="1550" spc="-10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efficiency</a:t>
            </a:r>
            <a:r>
              <a:rPr dirty="0" sz="1550" spc="-10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and</a:t>
            </a:r>
            <a:r>
              <a:rPr dirty="0" sz="1550" spc="-10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strategic</a:t>
            </a:r>
            <a:r>
              <a:rPr dirty="0" sz="1550" spc="-10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41C3A"/>
                </a:solidFill>
                <a:latin typeface="Tahoma"/>
                <a:cs typeface="Tahoma"/>
              </a:rPr>
              <a:t>decision-</a:t>
            </a:r>
            <a:r>
              <a:rPr dirty="0" sz="1550" spc="-40">
                <a:solidFill>
                  <a:srgbClr val="041C3A"/>
                </a:solidFill>
                <a:latin typeface="Tahoma"/>
                <a:cs typeface="Tahoma"/>
              </a:rPr>
              <a:t>making.The</a:t>
            </a:r>
            <a:r>
              <a:rPr dirty="0" sz="1550" spc="-125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presented</a:t>
            </a:r>
            <a:r>
              <a:rPr dirty="0" sz="1550" spc="-125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 spc="-35">
                <a:solidFill>
                  <a:srgbClr val="041C3A"/>
                </a:solidFill>
                <a:latin typeface="Tahoma"/>
                <a:cs typeface="Tahoma"/>
              </a:rPr>
              <a:t>KPI's</a:t>
            </a:r>
            <a:r>
              <a:rPr dirty="0" sz="1550" spc="-12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offer</a:t>
            </a:r>
            <a:r>
              <a:rPr dirty="0" sz="1550" spc="-125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a</a:t>
            </a:r>
            <a:r>
              <a:rPr dirty="0" sz="1550" spc="-12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glimpse</a:t>
            </a:r>
            <a:r>
              <a:rPr dirty="0" sz="1550" spc="-125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into</a:t>
            </a:r>
            <a:r>
              <a:rPr dirty="0" sz="1550" spc="-125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the</a:t>
            </a:r>
            <a:r>
              <a:rPr dirty="0" sz="1550" spc="-12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041C3A"/>
                </a:solidFill>
                <a:latin typeface="Tahoma"/>
                <a:cs typeface="Tahoma"/>
              </a:rPr>
              <a:t>vast</a:t>
            </a:r>
            <a:r>
              <a:rPr dirty="0" sz="1550" spc="-125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potential</a:t>
            </a:r>
            <a:r>
              <a:rPr dirty="0" sz="1550" spc="-12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for</a:t>
            </a:r>
            <a:r>
              <a:rPr dirty="0" sz="1550" spc="-125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41C3A"/>
                </a:solidFill>
                <a:latin typeface="Tahoma"/>
                <a:cs typeface="Tahoma"/>
              </a:rPr>
              <a:t>improvement</a:t>
            </a:r>
            <a:r>
              <a:rPr dirty="0" sz="1550" spc="-12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and</a:t>
            </a:r>
            <a:r>
              <a:rPr dirty="0" sz="1550" spc="-125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growth</a:t>
            </a:r>
            <a:r>
              <a:rPr dirty="0" sz="1550" spc="-125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within</a:t>
            </a:r>
            <a:r>
              <a:rPr dirty="0" sz="1550" spc="-12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the</a:t>
            </a:r>
            <a:r>
              <a:rPr dirty="0" sz="1550" spc="-125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industry</a:t>
            </a:r>
            <a:r>
              <a:rPr dirty="0" sz="1550" spc="-12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 spc="-25">
                <a:solidFill>
                  <a:srgbClr val="041C3A"/>
                </a:solidFill>
                <a:latin typeface="Tahoma"/>
                <a:cs typeface="Tahoma"/>
              </a:rPr>
              <a:t>.By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harnessing</a:t>
            </a:r>
            <a:r>
              <a:rPr dirty="0" sz="1550" spc="-11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the</a:t>
            </a:r>
            <a:r>
              <a:rPr dirty="0" sz="1550" spc="-11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power</a:t>
            </a:r>
            <a:r>
              <a:rPr dirty="0" sz="1550" spc="-105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of</a:t>
            </a:r>
            <a:r>
              <a:rPr dirty="0" sz="1550" spc="-11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 spc="-55">
                <a:solidFill>
                  <a:srgbClr val="041C3A"/>
                </a:solidFill>
                <a:latin typeface="Tahoma"/>
                <a:cs typeface="Tahoma"/>
              </a:rPr>
              <a:t>data,we</a:t>
            </a:r>
            <a:r>
              <a:rPr dirty="0" sz="1550" spc="-105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can</a:t>
            </a:r>
            <a:r>
              <a:rPr dirty="0" sz="1550" spc="-11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41C3A"/>
                </a:solidFill>
                <a:latin typeface="Tahoma"/>
                <a:cs typeface="Tahoma"/>
              </a:rPr>
              <a:t>drive</a:t>
            </a:r>
            <a:r>
              <a:rPr dirty="0" sz="1550" spc="-105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positive</a:t>
            </a:r>
            <a:r>
              <a:rPr dirty="0" sz="1550" spc="-11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41C3A"/>
                </a:solidFill>
                <a:latin typeface="Tahoma"/>
                <a:cs typeface="Tahoma"/>
              </a:rPr>
              <a:t>changes,ensuring</a:t>
            </a:r>
            <a:r>
              <a:rPr dirty="0" sz="1550" spc="-105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a</a:t>
            </a:r>
            <a:r>
              <a:rPr dirty="0" sz="1550" spc="-11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brighter</a:t>
            </a:r>
            <a:r>
              <a:rPr dirty="0" sz="1550" spc="-105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41C3A"/>
                </a:solidFill>
                <a:latin typeface="Tahoma"/>
                <a:cs typeface="Tahoma"/>
              </a:rPr>
              <a:t>future</a:t>
            </a:r>
            <a:r>
              <a:rPr dirty="0" sz="1550" spc="-11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for</a:t>
            </a:r>
            <a:r>
              <a:rPr dirty="0" sz="1550" spc="-105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High</a:t>
            </a:r>
            <a:r>
              <a:rPr dirty="0" sz="1550" spc="-11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Cloud</a:t>
            </a:r>
            <a:r>
              <a:rPr dirty="0" sz="1550" spc="-105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41C3A"/>
                </a:solidFill>
                <a:latin typeface="Tahoma"/>
                <a:cs typeface="Tahoma"/>
              </a:rPr>
              <a:t>Analysis</a:t>
            </a:r>
            <a:r>
              <a:rPr dirty="0" sz="1550" spc="-11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and</a:t>
            </a:r>
            <a:r>
              <a:rPr dirty="0" sz="1550" spc="-11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its</a:t>
            </a:r>
            <a:r>
              <a:rPr dirty="0" sz="1550" spc="-105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41C3A"/>
                </a:solidFill>
                <a:latin typeface="Tahoma"/>
                <a:cs typeface="Tahoma"/>
              </a:rPr>
              <a:t>partners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in</a:t>
            </a:r>
            <a:r>
              <a:rPr dirty="0" sz="1550" spc="-12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>
                <a:solidFill>
                  <a:srgbClr val="041C3A"/>
                </a:solidFill>
                <a:latin typeface="Tahoma"/>
                <a:cs typeface="Tahoma"/>
              </a:rPr>
              <a:t>the</a:t>
            </a:r>
            <a:r>
              <a:rPr dirty="0" sz="1550" spc="-114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 spc="-20">
                <a:solidFill>
                  <a:srgbClr val="041C3A"/>
                </a:solidFill>
                <a:latin typeface="Tahoma"/>
                <a:cs typeface="Tahoma"/>
              </a:rPr>
              <a:t>aviation</a:t>
            </a:r>
            <a:r>
              <a:rPr dirty="0" sz="1550" spc="-120">
                <a:solidFill>
                  <a:srgbClr val="041C3A"/>
                </a:solidFill>
                <a:latin typeface="Tahoma"/>
                <a:cs typeface="Tahoma"/>
              </a:rPr>
              <a:t> </a:t>
            </a:r>
            <a:r>
              <a:rPr dirty="0" sz="1550" spc="-10">
                <a:solidFill>
                  <a:srgbClr val="041C3A"/>
                </a:solidFill>
                <a:latin typeface="Tahoma"/>
                <a:cs typeface="Tahoma"/>
              </a:rPr>
              <a:t>sector.</a:t>
            </a:r>
            <a:endParaRPr sz="1550">
              <a:latin typeface="Tahoma"/>
              <a:cs typeface="Tahoma"/>
            </a:endParaRPr>
          </a:p>
        </p:txBody>
      </p:sp>
      <p:pic>
        <p:nvPicPr>
          <p:cNvPr id="4" name="object 4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38960" y="2842228"/>
            <a:ext cx="2318385" cy="588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700" spc="-140"/>
              <a:t>Thank</a:t>
            </a:r>
            <a:r>
              <a:rPr dirty="0" sz="3700" spc="-409"/>
              <a:t> </a:t>
            </a:r>
            <a:r>
              <a:rPr dirty="0" sz="3700" spc="-110"/>
              <a:t>You</a:t>
            </a:r>
            <a:endParaRPr sz="3700"/>
          </a:p>
        </p:txBody>
      </p:sp>
      <p:pic>
        <p:nvPicPr>
          <p:cNvPr id="3" name="object 3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2244" y="6343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2026-08-29T13:17:59Z</dcterms:created>
  <dcterms:modified xsi:type="dcterms:W3CDTF">2026-08-29T13:17:59Z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2026-08-29T00:00:00Z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2026-08-29T00:00:00Z</vt:filetime>
  </property>
  <property fmtid="{D5CDD505-2E9C-101B-9397-08002B2CF9AE}" pid="6" name="Producer">
    <vt:lpwstr>pdf-lib (https://github.com/Hopding/pdf-lib)</vt:lpwstr>
  </property>
</Properties>
</file>